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1"/>
  </p:normalViewPr>
  <p:slideViewPr>
    <p:cSldViewPr snapToGrid="0" snapToObjects="1">
      <p:cViewPr varScale="1">
        <p:scale>
          <a:sx n="116" d="100"/>
          <a:sy n="116" d="100"/>
        </p:scale>
        <p:origin x="32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en-US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本次答辩介绍献血管理系统。项目使用 Java Swing 提供桌面界面，MySQL 保存核心业务数据，MongoDB 保存详情、评论和日志。汇报按功能页面和对应数据库代码展开。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系统包含管理员和普通用户两类角色。管理员维护库存、分类、用户、审批、报表和日志；普通用户查询库存、提交申请、维护档案和查看个人统计。界面通过服务层和 DAO 访问两类数据库。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登录页提供登录和注册入口。注册账号默认获得普通用户角色；登录时检查用户名、密码和账号状态。登录成功后，系统根据角色生成对应的功能导航。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认证的数据访问使用 PreparedStatement 按用户名查询 MySQL。用户名由唯一索引保证不重复，账号状态由 CHECK 约束限定为零或一，ResultSet 返回密码哈希、角色和状态供认证使用。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管理员页面可以维护用户联系方式、角色、状态和实名档案；普通用户只能维护自己的档案。分类管理支持一级分类和子分类，用于组织血液类型、血液成分和业务分类。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分类表使用 parent_id 自引用表示树形结构。组合唯一索引保证同一父分类下名称不重复，ON DELETE RESTRICT 保证被子分类或库存引用的分类不能被直接删除。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库存页面支持关键词、状态、血型和分类筛选。管理员可以新增、编辑和删除库存批次，普通用户只能查询和查看详情。库存状态为停用时不能创建新的用血申请。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库存主记录由 ItemDAO 使用 PreparedStatement 写入 MySQL，并通过 RETURN_GENERATED_KEYS 取得 item_id。这个主键同时用于关联 MongoDB 详情文档，MySQL 负责数量、状态和外键约束。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库存详情包含基本信息、扩展描述和评论评分。用户可以发布一到五星评分、文字和标签；普通用户只能删除自己的评论，管理员可以处理任意评论。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评论以 MongoDB 文档保存，标签直接使用数组。评分统计在聚合管道中按 item_id 分组，计算评论数量和平均评分，再按评分排序，应用层不需要读取全部评论后再计算。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推荐页面为当前用户展示可用库存批次，并显示库存数量、行为热度、评分和推荐理由。管理员与普通用户都可以查看推荐结果，但推荐依据与当前用户记录相关。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推荐服务先从 MySQL 获取库存、分类和申请记录，再从 MongoDB 获取详情、评分和行为热度。排序时优先用户曾申请或访问的分类，然后比较热度和平均评分，并生成可理解的理由。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普通用户可以从库存或推荐页面创建用血申请，并在订单页面查看自己的记录。新申请初始状态为待审批，用户可以修改或删除自己的待审批记录。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申请写入使用带三个占位符的 INSERT SQL。OrderDAO 通过 PreparedStatement 绑定用户、库存和数量，通过生成主键返回 order_id；外键、CHECK 约束和 JDBC 事务共同保证写入正确性。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管理员订单页面可以查看全部申请，并按状态筛选。审批通过后，申请状态更新为完成，同时库存数量减少；取消申请只改变状态，不扣减库存。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审批的核心是一个 JDBC 事务。SELECT FOR UPDATE 先锁定目标申请和库存，然后两条 UPDATE 在同一连接中更新申请状态并扣减库存，成功提交，异常回滚。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管理员报表包含月度用血、操作热度、评论评分和审计统计。普通用户报表只展示自己的申请和评论数据，因此同一个报表入口会根据角色限制数据范围。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月度报表由 MySQL 存储过程完成多表连接、条件汇总和分组，JDBC 使用 CallableStatement 传入年份和月份。MongoDB 使用 match、group 和 sort 生成行为热度和审计统计。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系统日志页面展示登录成功、登录失败、业务操作和异常信息。管理员可以按日志类型查看全局记录，普通用户只能查看自己的行为记录，关键操作具有完整的追踪链。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日志集合按日志类型和时间倒序建立组合索引，符合等值筛选在前、排序字段在后的设计。审计聚合按日志类型和级别分组，统计数量和最后发生时间。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常规测试运行五十项，其中四十九项通过，唯一跳过的是需要真实 MongoDB 的压力测试。压力测试单独执行后通过，一万条日志在五十并发下耗时二点五四七秒，平均每秒三千九百二十六条。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本项目完成了登录、用户档案、分类、库存、评论、推荐、申请、审批、报表和日志功能。MySQL 负责关系与事务，MongoDB 负责灵活文档和聚合。汇报结束后将按登录、库存、申请、审批、报表和日志的顺序进行系统演示。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答辩PP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答辩PP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Freeform 2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762000" y="0"/>
                  </a:moveTo>
                  <a:lnTo>
                    <a:pt x="762000" y="6858000"/>
                  </a:lnTo>
                  <a:moveTo>
                    <a:pt x="2286000" y="0"/>
                  </a:moveTo>
                  <a:lnTo>
                    <a:pt x="2286000" y="6858000"/>
                  </a:lnTo>
                  <a:moveTo>
                    <a:pt x="3810000" y="0"/>
                  </a:moveTo>
                  <a:lnTo>
                    <a:pt x="3810000" y="6858000"/>
                  </a:lnTo>
                  <a:moveTo>
                    <a:pt x="5334000" y="0"/>
                  </a:moveTo>
                  <a:lnTo>
                    <a:pt x="5334000" y="6858000"/>
                  </a:lnTo>
                  <a:moveTo>
                    <a:pt x="6858000" y="0"/>
                  </a:moveTo>
                  <a:lnTo>
                    <a:pt x="6858000" y="6858000"/>
                  </a:lnTo>
                  <a:moveTo>
                    <a:pt x="8382000" y="0"/>
                  </a:moveTo>
                  <a:lnTo>
                    <a:pt x="8382000" y="6858000"/>
                  </a:lnTo>
                  <a:moveTo>
                    <a:pt x="9906000" y="0"/>
                  </a:moveTo>
                  <a:lnTo>
                    <a:pt x="9906000" y="6858000"/>
                  </a:lnTo>
                  <a:moveTo>
                    <a:pt x="11430000" y="0"/>
                  </a:moveTo>
                  <a:lnTo>
                    <a:pt x="11430000" y="6858000"/>
                  </a:lnTo>
                  <a:moveTo>
                    <a:pt x="0" y="1143000"/>
                  </a:moveTo>
                  <a:lnTo>
                    <a:pt x="12192000" y="1143000"/>
                  </a:lnTo>
                  <a:moveTo>
                    <a:pt x="0" y="2667000"/>
                  </a:moveTo>
                  <a:lnTo>
                    <a:pt x="12192000" y="2667000"/>
                  </a:lnTo>
                  <a:moveTo>
                    <a:pt x="0" y="4191000"/>
                  </a:moveTo>
                  <a:lnTo>
                    <a:pt x="12192000" y="4191000"/>
                  </a:lnTo>
                  <a:moveTo>
                    <a:pt x="0" y="5715000"/>
                  </a:moveTo>
                  <a:lnTo>
                    <a:pt x="12192000" y="57150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E8F0F7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514350" y="457200"/>
            <a:ext cx="11163300" cy="5943600"/>
            <a:chOff x="514350" y="457200"/>
            <a:chExt cx="11163300" cy="5943600"/>
          </a:xfrm>
        </p:grpSpPr>
        <p:sp>
          <p:nvSpPr>
            <p:cNvPr id="4" name="Rectangle 4"/>
            <p:cNvSpPr/>
            <p:nvPr/>
          </p:nvSpPr>
          <p:spPr>
            <a:xfrm>
              <a:off x="514350" y="457200"/>
              <a:ext cx="11163300" cy="59436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514350" y="457200"/>
              <a:ext cx="11163300" cy="800100"/>
            </a:xfrm>
            <a:custGeom>
              <a:avLst/>
              <a:gdLst/>
              <a:ahLst/>
              <a:cxnLst/>
              <a:rect l="l" t="t" r="r" b="b"/>
              <a:pathLst>
                <a:path w="11163300" h="800100">
                  <a:moveTo>
                    <a:pt x="0" y="800100"/>
                  </a:moveTo>
                  <a:lnTo>
                    <a:pt x="11163300" y="800100"/>
                  </a:lnTo>
                  <a:moveTo>
                    <a:pt x="8820150" y="0"/>
                  </a:moveTo>
                  <a:lnTo>
                    <a:pt x="8820150" y="8001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028700" y="2259330"/>
            <a:ext cx="5560752" cy="1898904"/>
            <a:chOff x="1028700" y="2259330"/>
            <a:chExt cx="5560752" cy="1898904"/>
          </a:xfrm>
        </p:grpSpPr>
        <p:sp>
          <p:nvSpPr>
            <p:cNvPr id="7" name="TextBox 7"/>
            <p:cNvSpPr txBox="1"/>
            <p:nvPr/>
          </p:nvSpPr>
          <p:spPr>
            <a:xfrm>
              <a:off x="1028700" y="2259330"/>
              <a:ext cx="4363441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献血管理系统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73658" y="3122295"/>
              <a:ext cx="35783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数据库系统开发课程答辩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76706" y="3806190"/>
              <a:ext cx="55127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MySQL 保证核心事务 · MongoDB 支持日志与聚合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163050" y="2571750"/>
            <a:ext cx="1562100" cy="1628775"/>
            <a:chOff x="9163050" y="2571750"/>
            <a:chExt cx="1562100" cy="1628775"/>
          </a:xfrm>
        </p:grpSpPr>
        <p:sp>
          <p:nvSpPr>
            <p:cNvPr id="11" name="Ellipse 11"/>
            <p:cNvSpPr/>
            <p:nvPr/>
          </p:nvSpPr>
          <p:spPr>
            <a:xfrm>
              <a:off x="9163050" y="2571750"/>
              <a:ext cx="1562100" cy="156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9467850" y="2714625"/>
              <a:ext cx="952500" cy="1485900"/>
            </a:xfrm>
            <a:custGeom>
              <a:avLst/>
              <a:gdLst/>
              <a:ahLst/>
              <a:cxnLst/>
              <a:rect l="l" t="t" r="r" b="b"/>
              <a:pathLst>
                <a:path w="952500" h="1485900">
                  <a:moveTo>
                    <a:pt x="476250" y="0"/>
                  </a:moveTo>
                  <a:cubicBezTo>
                    <a:pt x="152400" y="476250"/>
                    <a:pt x="0" y="723900"/>
                    <a:pt x="0" y="1009650"/>
                  </a:cubicBezTo>
                  <a:cubicBezTo>
                    <a:pt x="0" y="1272676"/>
                    <a:pt x="213224" y="1485900"/>
                    <a:pt x="476250" y="1485900"/>
                  </a:cubicBezTo>
                  <a:cubicBezTo>
                    <a:pt x="739276" y="1485900"/>
                    <a:pt x="952500" y="1272676"/>
                    <a:pt x="952500" y="1009650"/>
                  </a:cubicBezTo>
                  <a:cubicBezTo>
                    <a:pt x="952500" y="723900"/>
                    <a:pt x="800100" y="476250"/>
                    <a:pt x="4762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040892" y="673418"/>
            <a:ext cx="10007194" cy="5407533"/>
            <a:chOff x="1040892" y="673418"/>
            <a:chExt cx="10007194" cy="5407533"/>
          </a:xfrm>
        </p:grpSpPr>
        <p:sp>
          <p:nvSpPr>
            <p:cNvPr id="14" name="TextBox 14"/>
            <p:cNvSpPr txBox="1"/>
            <p:nvPr/>
          </p:nvSpPr>
          <p:spPr>
            <a:xfrm>
              <a:off x="9613392" y="673418"/>
              <a:ext cx="14346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PROJECT / 2026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0892" y="58169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汇报 10 分钟 · 系统演示 5 分钟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76250" y="1200150"/>
            <a:ext cx="11239500" cy="5200650"/>
            <a:chOff x="476250" y="1200150"/>
            <a:chExt cx="11239500" cy="5200650"/>
          </a:xfrm>
        </p:grpSpPr>
        <p:sp>
          <p:nvSpPr>
            <p:cNvPr id="2" name="Freeform 2"/>
            <p:cNvSpPr/>
            <p:nvPr/>
          </p:nvSpPr>
          <p:spPr>
            <a:xfrm>
              <a:off x="476250" y="1200150"/>
              <a:ext cx="11239500" cy="5200650"/>
            </a:xfrm>
            <a:custGeom>
              <a:avLst/>
              <a:gdLst/>
              <a:ahLst/>
              <a:cxnLst/>
              <a:rect l="l" t="t" r="r" b="b"/>
              <a:pathLst>
                <a:path w="11239500" h="5200650">
                  <a:moveTo>
                    <a:pt x="0" y="0"/>
                  </a:moveTo>
                  <a:lnTo>
                    <a:pt x="11239500" y="0"/>
                  </a:lnTo>
                  <a:moveTo>
                    <a:pt x="0" y="5200650"/>
                  </a:moveTo>
                  <a:lnTo>
                    <a:pt x="11239500" y="520065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1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49986" y="539115"/>
            <a:ext cx="11014691" cy="645414"/>
            <a:chOff x="649986" y="539115"/>
            <a:chExt cx="11014691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649986" y="539115"/>
              <a:ext cx="563102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系统功能、角色与总体架构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42142" y="7496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 / 22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66750" y="1524000"/>
            <a:ext cx="4953000" cy="2857500"/>
            <a:chOff x="666750" y="1524000"/>
            <a:chExt cx="4953000" cy="2857500"/>
          </a:xfrm>
        </p:grpSpPr>
        <p:sp>
          <p:nvSpPr>
            <p:cNvPr id="7" name="Rectangle 7"/>
            <p:cNvSpPr/>
            <p:nvPr/>
          </p:nvSpPr>
          <p:spPr>
            <a:xfrm>
              <a:off x="666750" y="1524000"/>
              <a:ext cx="4953000" cy="28575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8550" y="1638300"/>
              <a:ext cx="4089400" cy="2628900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781050" y="3886200"/>
              <a:ext cx="142875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34224" y="399764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管理员功能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905500" y="1524000"/>
            <a:ext cx="4953000" cy="2857500"/>
            <a:chOff x="5905500" y="1524000"/>
            <a:chExt cx="4953000" cy="2857500"/>
          </a:xfrm>
        </p:grpSpPr>
        <p:sp>
          <p:nvSpPr>
            <p:cNvPr id="12" name="Rectangle 12"/>
            <p:cNvSpPr/>
            <p:nvPr/>
          </p:nvSpPr>
          <p:spPr>
            <a:xfrm>
              <a:off x="5905500" y="1524000"/>
              <a:ext cx="4953000" cy="28575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37300" y="1638300"/>
              <a:ext cx="4089400" cy="2628900"/>
            </a:xfrm>
            <a:prstGeom prst="rect">
              <a:avLst/>
            </a:prstGeom>
          </p:spPr>
        </p:pic>
        <p:sp>
          <p:nvSpPr>
            <p:cNvPr id="14" name="Rectangle 14"/>
            <p:cNvSpPr/>
            <p:nvPr/>
          </p:nvSpPr>
          <p:spPr>
            <a:xfrm>
              <a:off x="6019800" y="3886200"/>
              <a:ext cx="1428750" cy="381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182106" y="39976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普通用户功能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66750" y="4714875"/>
            <a:ext cx="10191750" cy="1190625"/>
            <a:chOff x="666750" y="4714875"/>
            <a:chExt cx="10191750" cy="1190625"/>
          </a:xfrm>
        </p:grpSpPr>
        <p:sp>
          <p:nvSpPr>
            <p:cNvPr id="17" name="Rectangle 17"/>
            <p:cNvSpPr/>
            <p:nvPr/>
          </p:nvSpPr>
          <p:spPr>
            <a:xfrm>
              <a:off x="666750" y="4714875"/>
              <a:ext cx="10191750" cy="1190625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86231" y="4996815"/>
              <a:ext cx="10216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Swing UI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800731" y="499681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72231" y="4996815"/>
              <a:ext cx="20445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Service 业务规则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801106" y="499681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72606" y="4996815"/>
              <a:ext cx="5156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DAO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15606" y="499681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87106" y="4901565"/>
              <a:ext cx="8560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MySQL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087106" y="5282565"/>
              <a:ext cx="10737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MongoDB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88517" y="5521642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界面不直接访问数据库；角色决定菜单，服务层统一处理权限与跨库协调。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76250" y="1200150"/>
            <a:ext cx="11239500" cy="5200650"/>
            <a:chOff x="476250" y="1200150"/>
            <a:chExt cx="11239500" cy="5200650"/>
          </a:xfrm>
        </p:grpSpPr>
        <p:sp>
          <p:nvSpPr>
            <p:cNvPr id="2" name="Freeform 2"/>
            <p:cNvSpPr/>
            <p:nvPr/>
          </p:nvSpPr>
          <p:spPr>
            <a:xfrm>
              <a:off x="476250" y="1200150"/>
              <a:ext cx="11239500" cy="5200650"/>
            </a:xfrm>
            <a:custGeom>
              <a:avLst/>
              <a:gdLst/>
              <a:ahLst/>
              <a:cxnLst/>
              <a:rect l="l" t="t" r="r" b="b"/>
              <a:pathLst>
                <a:path w="11239500" h="5200650">
                  <a:moveTo>
                    <a:pt x="0" y="0"/>
                  </a:moveTo>
                  <a:lnTo>
                    <a:pt x="11239500" y="0"/>
                  </a:lnTo>
                  <a:moveTo>
                    <a:pt x="0" y="5200650"/>
                  </a:moveTo>
                  <a:lnTo>
                    <a:pt x="11239500" y="520065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1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49986" y="539115"/>
            <a:ext cx="11014691" cy="645414"/>
            <a:chOff x="649986" y="539115"/>
            <a:chExt cx="11014691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649986" y="539115"/>
              <a:ext cx="236582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登录与注册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42142" y="7496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/ 22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6750" y="1476375"/>
            <a:ext cx="6858000" cy="4191000"/>
            <a:chOff x="666750" y="1476375"/>
            <a:chExt cx="6858000" cy="4191000"/>
          </a:xfrm>
        </p:grpSpPr>
        <p:sp>
          <p:nvSpPr>
            <p:cNvPr id="7" name="Rectangle 7"/>
            <p:cNvSpPr/>
            <p:nvPr/>
          </p:nvSpPr>
          <p:spPr>
            <a:xfrm>
              <a:off x="666750" y="1476375"/>
              <a:ext cx="6858000" cy="41910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2463" y="1590675"/>
              <a:ext cx="6546574" cy="3962400"/>
            </a:xfrm>
            <a:prstGeom prst="rect">
              <a:avLst/>
            </a:prstGeom>
          </p:spPr>
        </p:pic>
      </p:grpSp>
      <p:grpSp>
        <p:nvGrpSpPr>
          <p:cNvPr id="18" name="Group 18"/>
          <p:cNvGrpSpPr/>
          <p:nvPr/>
        </p:nvGrpSpPr>
        <p:grpSpPr>
          <a:xfrm>
            <a:off x="7810500" y="1663065"/>
            <a:ext cx="3714750" cy="3813810"/>
            <a:chOff x="7810500" y="1663065"/>
            <a:chExt cx="3714750" cy="3813810"/>
          </a:xfrm>
        </p:grpSpPr>
        <p:sp>
          <p:nvSpPr>
            <p:cNvPr id="10" name="TextBox 10"/>
            <p:cNvSpPr txBox="1"/>
            <p:nvPr/>
          </p:nvSpPr>
          <p:spPr>
            <a:xfrm>
              <a:off x="7944231" y="166306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功能流程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44231" y="2139315"/>
              <a:ext cx="31802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注册账号默认角色为 USER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44231" y="2663190"/>
              <a:ext cx="28897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 登录检查账号状态与密码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44231" y="3187065"/>
              <a:ext cx="26474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③ 成功后按角色生成导航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810500" y="3905250"/>
              <a:ext cx="3714750" cy="1571625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87106" y="413956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演示账号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087106" y="4568190"/>
              <a:ext cx="16418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管理员：admin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87106" y="4949190"/>
              <a:ext cx="20295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普通用户：user01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76250" y="1200150"/>
            <a:ext cx="11239500" cy="5200650"/>
            <a:chOff x="476250" y="1200150"/>
            <a:chExt cx="11239500" cy="5200650"/>
          </a:xfrm>
        </p:grpSpPr>
        <p:sp>
          <p:nvSpPr>
            <p:cNvPr id="2" name="Freeform 2"/>
            <p:cNvSpPr/>
            <p:nvPr/>
          </p:nvSpPr>
          <p:spPr>
            <a:xfrm>
              <a:off x="476250" y="1200150"/>
              <a:ext cx="11239500" cy="5200650"/>
            </a:xfrm>
            <a:custGeom>
              <a:avLst/>
              <a:gdLst/>
              <a:ahLst/>
              <a:cxnLst/>
              <a:rect l="l" t="t" r="r" b="b"/>
              <a:pathLst>
                <a:path w="11239500" h="5200650">
                  <a:moveTo>
                    <a:pt x="0" y="0"/>
                  </a:moveTo>
                  <a:lnTo>
                    <a:pt x="11239500" y="0"/>
                  </a:lnTo>
                  <a:moveTo>
                    <a:pt x="0" y="5200650"/>
                  </a:moveTo>
                  <a:lnTo>
                    <a:pt x="11239500" y="520065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1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49986" y="539115"/>
            <a:ext cx="11014691" cy="645414"/>
            <a:chOff x="649986" y="539115"/>
            <a:chExt cx="11014691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649986" y="539115"/>
              <a:ext cx="656394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用户认证的 SQL 与 JDBC 查询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42142" y="7496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04 / 22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6750" y="1476375"/>
            <a:ext cx="6953250" cy="4381500"/>
            <a:chOff x="666750" y="1476375"/>
            <a:chExt cx="6953250" cy="4381500"/>
          </a:xfrm>
        </p:grpSpPr>
        <p:sp>
          <p:nvSpPr>
            <p:cNvPr id="7" name="Rectangle 7"/>
            <p:cNvSpPr/>
            <p:nvPr/>
          </p:nvSpPr>
          <p:spPr>
            <a:xfrm>
              <a:off x="666750" y="1476375"/>
              <a:ext cx="6953250" cy="438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5642" y="1806892"/>
              <a:ext cx="3682746" cy="35787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en-US" sz="1350" dirty="0">
                  <a:solidFill>
                    <a:srgbClr val="F7FAFC"/>
                  </a:solidFill>
                  <a:latin typeface="Consolas"/>
                  <a:ea typeface="Consolas"/>
                  <a:cs typeface="Consolas"/>
                </a:rPr>
                <a:t>SELECT user_id, username, password_hash, role, status FROM users </a:t>
              </a:r>
              <a:r>
                <a:rPr lang="en-US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WHERE username = ?;</a:t>
              </a:r>
            </a:p>
            <a:p>
              <a:pPr algn="l">
                <a:lnSpc>
                  <a:spcPts val="2550"/>
                </a:lnSpc>
                <a:spcBef>
                  <a:spcPts val="1575"/>
                </a:spcBef>
              </a:pPr>
              <a:r>
                <a:rPr lang="en-US" sz="1350" dirty="0">
                  <a:solidFill>
                    <a:srgbClr val="F7FAFC"/>
                  </a:solidFill>
                  <a:latin typeface="Consolas"/>
                  <a:ea typeface="Consolas"/>
                  <a:cs typeface="Consolas"/>
                </a:rPr>
                <a:t>UNIQUE KEY uk_users_username (username) CHECK (status IN (0, 1))</a:t>
              </a:r>
            </a:p>
            <a:p>
              <a:pPr algn="l">
                <a:lnSpc>
                  <a:spcPts val="2550"/>
                </a:lnSpc>
                <a:spcBef>
                  <a:spcPts val="1575"/>
                </a:spcBef>
              </a:pPr>
              <a:r>
                <a:rPr lang="en-US" sz="1350" dirty="0">
                  <a:solidFill>
                    <a:srgbClr val="F7FAFC"/>
                  </a:solidFill>
                  <a:latin typeface="Consolas"/>
                  <a:ea typeface="Consolas"/>
                  <a:cs typeface="Consolas"/>
                </a:rPr>
                <a:t>-- JDBC PreparedStatement ps = conn.prepareStatement(sql); </a:t>
              </a:r>
              <a:r>
                <a:rPr lang="en-US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ps.setString(1, username);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905750" y="1614488"/>
            <a:ext cx="3769868" cy="3767137"/>
            <a:chOff x="7905750" y="1614488"/>
            <a:chExt cx="3769868" cy="3767137"/>
          </a:xfrm>
        </p:grpSpPr>
        <p:sp>
          <p:nvSpPr>
            <p:cNvPr id="10" name="TextBox 10"/>
            <p:cNvSpPr txBox="1"/>
            <p:nvPr/>
          </p:nvSpPr>
          <p:spPr>
            <a:xfrm>
              <a:off x="8037195" y="1614488"/>
              <a:ext cx="220713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JDBC 数据访问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039862" y="2242661"/>
              <a:ext cx="344392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PreparedStatement 绑定参数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39862" y="2718911"/>
              <a:ext cx="279586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 ResultSet 映射用户字段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039862" y="3195161"/>
              <a:ext cx="2529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③ 唯一索引保证账号唯一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905750" y="4000500"/>
              <a:ext cx="3619500" cy="1381125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82737" y="4242911"/>
              <a:ext cx="99002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密码存储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183118" y="4679632"/>
              <a:ext cx="34925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password_hash 保存 BCrypt 结果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83118" y="504158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数据库中不保存明文密码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59892" y="5997892"/>
            <a:ext cx="4150462" cy="264033"/>
            <a:chOff x="659892" y="5997892"/>
            <a:chExt cx="4150462" cy="264033"/>
          </a:xfrm>
        </p:grpSpPr>
        <p:sp>
          <p:nvSpPr>
            <p:cNvPr id="19" name="TextBox 19"/>
            <p:cNvSpPr txBox="1"/>
            <p:nvPr/>
          </p:nvSpPr>
          <p:spPr>
            <a:xfrm>
              <a:off x="659892" y="5997892"/>
              <a:ext cx="41504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来源：mysql_schema.sql、UserDAO 与 BaseDAO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76250" y="1200150"/>
            <a:ext cx="11239500" cy="5200650"/>
            <a:chOff x="476250" y="1200150"/>
            <a:chExt cx="11239500" cy="5200650"/>
          </a:xfrm>
        </p:grpSpPr>
        <p:sp>
          <p:nvSpPr>
            <p:cNvPr id="2" name="Freeform 2"/>
            <p:cNvSpPr/>
            <p:nvPr/>
          </p:nvSpPr>
          <p:spPr>
            <a:xfrm>
              <a:off x="476250" y="1200150"/>
              <a:ext cx="11239500" cy="5200650"/>
            </a:xfrm>
            <a:custGeom>
              <a:avLst/>
              <a:gdLst/>
              <a:ahLst/>
              <a:cxnLst/>
              <a:rect l="l" t="t" r="r" b="b"/>
              <a:pathLst>
                <a:path w="11239500" h="5200650">
                  <a:moveTo>
                    <a:pt x="0" y="0"/>
                  </a:moveTo>
                  <a:lnTo>
                    <a:pt x="11239500" y="0"/>
                  </a:lnTo>
                  <a:moveTo>
                    <a:pt x="0" y="5200650"/>
                  </a:moveTo>
                  <a:lnTo>
                    <a:pt x="11239500" y="520065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1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49986" y="539115"/>
            <a:ext cx="11014691" cy="645414"/>
            <a:chOff x="649986" y="539115"/>
            <a:chExt cx="11014691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649986" y="539115"/>
              <a:ext cx="563102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用户管理、个人档案与分类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42142" y="7496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05 / 22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71500" y="1476375"/>
            <a:ext cx="3524250" cy="3143250"/>
            <a:chOff x="571500" y="1476375"/>
            <a:chExt cx="3524250" cy="3143250"/>
          </a:xfrm>
        </p:grpSpPr>
        <p:sp>
          <p:nvSpPr>
            <p:cNvPr id="7" name="Rectangle 7"/>
            <p:cNvSpPr/>
            <p:nvPr/>
          </p:nvSpPr>
          <p:spPr>
            <a:xfrm>
              <a:off x="571500" y="1476375"/>
              <a:ext cx="3524250" cy="31432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6750" y="1976438"/>
              <a:ext cx="3333750" cy="2143125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666750" y="4143375"/>
              <a:ext cx="133350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63168" y="42548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用户管理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333875" y="1476375"/>
            <a:ext cx="3524250" cy="3143250"/>
            <a:chOff x="4333875" y="1476375"/>
            <a:chExt cx="3524250" cy="3143250"/>
          </a:xfrm>
        </p:grpSpPr>
        <p:sp>
          <p:nvSpPr>
            <p:cNvPr id="12" name="Rectangle 12"/>
            <p:cNvSpPr/>
            <p:nvPr/>
          </p:nvSpPr>
          <p:spPr>
            <a:xfrm>
              <a:off x="4333875" y="1476375"/>
              <a:ext cx="3524250" cy="31432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29125" y="1976438"/>
              <a:ext cx="3333750" cy="2143125"/>
            </a:xfrm>
            <a:prstGeom prst="rect">
              <a:avLst/>
            </a:prstGeom>
          </p:spPr>
        </p:pic>
        <p:sp>
          <p:nvSpPr>
            <p:cNvPr id="14" name="Rectangle 14"/>
            <p:cNvSpPr/>
            <p:nvPr/>
          </p:nvSpPr>
          <p:spPr>
            <a:xfrm>
              <a:off x="4429125" y="4143375"/>
              <a:ext cx="1333500" cy="381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725543" y="42548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个人档案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096250" y="1476375"/>
            <a:ext cx="3524250" cy="3143250"/>
            <a:chOff x="8096250" y="1476375"/>
            <a:chExt cx="3524250" cy="3143250"/>
          </a:xfrm>
        </p:grpSpPr>
        <p:sp>
          <p:nvSpPr>
            <p:cNvPr id="17" name="Rectangle 17"/>
            <p:cNvSpPr/>
            <p:nvPr/>
          </p:nvSpPr>
          <p:spPr>
            <a:xfrm>
              <a:off x="8096250" y="1476375"/>
              <a:ext cx="3524250" cy="31432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91500" y="1976438"/>
              <a:ext cx="3333750" cy="2143125"/>
            </a:xfrm>
            <a:prstGeom prst="rect">
              <a:avLst/>
            </a:prstGeom>
          </p:spPr>
        </p:pic>
        <p:sp>
          <p:nvSpPr>
            <p:cNvPr id="19" name="Rectangle 19"/>
            <p:cNvSpPr/>
            <p:nvPr/>
          </p:nvSpPr>
          <p:spPr>
            <a:xfrm>
              <a:off x="8191500" y="4143375"/>
              <a:ext cx="13335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87918" y="42548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分类管理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52856" y="4949190"/>
            <a:ext cx="9506712" cy="780669"/>
            <a:chOff x="752856" y="4949190"/>
            <a:chExt cx="9506712" cy="780669"/>
          </a:xfrm>
        </p:grpSpPr>
        <p:sp>
          <p:nvSpPr>
            <p:cNvPr id="22" name="TextBox 22"/>
            <p:cNvSpPr txBox="1"/>
            <p:nvPr/>
          </p:nvSpPr>
          <p:spPr>
            <a:xfrm>
              <a:off x="752856" y="4949190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管理员：维护用户角色、状态、联系方式和实名档案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2856" y="5377815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普通用户：只能维护自己的档案与联系方式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48856" y="49491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分类：一级分类与子分类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48856" y="5377815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用于组织血型、成分和业务类型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76250" y="1200150"/>
            <a:ext cx="11239500" cy="5200650"/>
            <a:chOff x="476250" y="1200150"/>
            <a:chExt cx="11239500" cy="5200650"/>
          </a:xfrm>
        </p:grpSpPr>
        <p:sp>
          <p:nvSpPr>
            <p:cNvPr id="2" name="Freeform 2"/>
            <p:cNvSpPr/>
            <p:nvPr/>
          </p:nvSpPr>
          <p:spPr>
            <a:xfrm>
              <a:off x="476250" y="1200150"/>
              <a:ext cx="11239500" cy="5200650"/>
            </a:xfrm>
            <a:custGeom>
              <a:avLst/>
              <a:gdLst/>
              <a:ahLst/>
              <a:cxnLst/>
              <a:rect l="l" t="t" r="r" b="b"/>
              <a:pathLst>
                <a:path w="11239500" h="5200650">
                  <a:moveTo>
                    <a:pt x="0" y="0"/>
                  </a:moveTo>
                  <a:lnTo>
                    <a:pt x="11239500" y="0"/>
                  </a:lnTo>
                  <a:moveTo>
                    <a:pt x="0" y="5200650"/>
                  </a:moveTo>
                  <a:lnTo>
                    <a:pt x="11239500" y="520065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1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49986" y="539115"/>
            <a:ext cx="11014691" cy="645414"/>
            <a:chOff x="649986" y="539115"/>
            <a:chExt cx="11014691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649986" y="539115"/>
              <a:ext cx="516456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分类树的外键与删除约束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42142" y="7496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06 / 22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6750" y="1476375"/>
            <a:ext cx="7239000" cy="4381500"/>
            <a:chOff x="666750" y="1476375"/>
            <a:chExt cx="7239000" cy="4381500"/>
          </a:xfrm>
        </p:grpSpPr>
        <p:sp>
          <p:nvSpPr>
            <p:cNvPr id="7" name="Rectangle 7"/>
            <p:cNvSpPr/>
            <p:nvPr/>
          </p:nvSpPr>
          <p:spPr>
            <a:xfrm>
              <a:off x="666750" y="1476375"/>
              <a:ext cx="7239000" cy="438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5642" y="1778318"/>
              <a:ext cx="4068508" cy="36739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en-US" sz="1350" dirty="0">
                  <a:solidFill>
                    <a:srgbClr val="F7FAFC"/>
                  </a:solidFill>
                  <a:latin typeface="Consolas"/>
                  <a:ea typeface="Consolas"/>
                  <a:cs typeface="Consolas"/>
                </a:rPr>
                <a:t>CREATE TABLE categories ( category_id BIGINT PRIMARY KEY AUTO_INCREMENT, name VARCHAR(50) NOT NULL, parent_id BIGINT NULL, </a:t>
              </a:r>
              <a:r>
                <a:rPr lang="en-US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UNIQUE KEY (parent_id, name), </a:t>
              </a:r>
              <a:r>
                <a:rPr lang="en-US" sz="1350" dirty="0">
                  <a:solidFill>
                    <a:srgbClr val="F7FAFC"/>
                  </a:solidFill>
                  <a:latin typeface="Consolas"/>
                  <a:ea typeface="Consolas"/>
                  <a:cs typeface="Consolas"/>
                </a:rPr>
                <a:t>FOREIGN KEY (parent_id) REFERENCES categories(category_id) </a:t>
              </a:r>
              <a:r>
                <a:rPr lang="en-US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ON UPDATE CASCADE ON DELETE RESTRICT </a:t>
              </a:r>
              <a:r>
                <a:rPr lang="en-US" sz="1350" dirty="0">
                  <a:solidFill>
                    <a:srgbClr val="F7FAFC"/>
                  </a:solidFill>
                  <a:latin typeface="Consolas"/>
                  <a:ea typeface="Consolas"/>
                  <a:cs typeface="Consolas"/>
                </a:rPr>
                <a:t>);</a:t>
              </a:r>
            </a:p>
            <a:p>
              <a:pPr algn="l">
                <a:lnSpc>
                  <a:spcPts val="2550"/>
                </a:lnSpc>
                <a:spcBef>
                  <a:spcPts val="1350"/>
                </a:spcBef>
              </a:pPr>
              <a:r>
                <a:rPr lang="en-US" sz="1350" dirty="0">
                  <a:solidFill>
                    <a:srgbClr val="F7FAFC"/>
                  </a:solidFill>
                  <a:latin typeface="Consolas"/>
                  <a:ea typeface="Consolas"/>
                  <a:cs typeface="Consolas"/>
                </a:rPr>
                <a:t>SELECT * FROM categories ORDER BY parent_id IS NULL DESC, parent_id;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143875" y="1614488"/>
            <a:ext cx="3650173" cy="3749801"/>
            <a:chOff x="8143875" y="1614488"/>
            <a:chExt cx="3650173" cy="3749801"/>
          </a:xfrm>
        </p:grpSpPr>
        <p:sp>
          <p:nvSpPr>
            <p:cNvPr id="10" name="TextBox 10"/>
            <p:cNvSpPr txBox="1"/>
            <p:nvPr/>
          </p:nvSpPr>
          <p:spPr>
            <a:xfrm>
              <a:off x="8275320" y="1614488"/>
              <a:ext cx="129501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关系模型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77987" y="2242661"/>
              <a:ext cx="299289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parent_id 自引用表示层级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77987" y="2766536"/>
              <a:ext cx="229825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 同一父类下名称唯一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77987" y="3290411"/>
              <a:ext cx="351606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③ RESTRICT 阻止删除被引用分类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143875" y="4048125"/>
              <a:ext cx="3381375" cy="12382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20862" y="4290536"/>
              <a:ext cx="156832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CategoryDAO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21243" y="4727258"/>
              <a:ext cx="21642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直接执行排序 SQL，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21243" y="5041582"/>
              <a:ext cx="30081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将 ResultSet 映射为分类列表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59892" y="5997892"/>
            <a:ext cx="3598852" cy="264033"/>
            <a:chOff x="659892" y="5997892"/>
            <a:chExt cx="3598852" cy="264033"/>
          </a:xfrm>
        </p:grpSpPr>
        <p:sp>
          <p:nvSpPr>
            <p:cNvPr id="19" name="TextBox 19"/>
            <p:cNvSpPr txBox="1"/>
            <p:nvPr/>
          </p:nvSpPr>
          <p:spPr>
            <a:xfrm>
              <a:off x="659892" y="5997892"/>
              <a:ext cx="35988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来源：mysql_schema.sql 与 CategoryDAO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76250" y="1200150"/>
            <a:ext cx="11239500" cy="5200650"/>
            <a:chOff x="476250" y="1200150"/>
            <a:chExt cx="11239500" cy="5200650"/>
          </a:xfrm>
        </p:grpSpPr>
        <p:sp>
          <p:nvSpPr>
            <p:cNvPr id="2" name="Freeform 2"/>
            <p:cNvSpPr/>
            <p:nvPr/>
          </p:nvSpPr>
          <p:spPr>
            <a:xfrm>
              <a:off x="476250" y="1200150"/>
              <a:ext cx="11239500" cy="5200650"/>
            </a:xfrm>
            <a:custGeom>
              <a:avLst/>
              <a:gdLst/>
              <a:ahLst/>
              <a:cxnLst/>
              <a:rect l="l" t="t" r="r" b="b"/>
              <a:pathLst>
                <a:path w="11239500" h="5200650">
                  <a:moveTo>
                    <a:pt x="0" y="0"/>
                  </a:moveTo>
                  <a:lnTo>
                    <a:pt x="11239500" y="0"/>
                  </a:lnTo>
                  <a:moveTo>
                    <a:pt x="0" y="5200650"/>
                  </a:moveTo>
                  <a:lnTo>
                    <a:pt x="11239500" y="520065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1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49986" y="539115"/>
            <a:ext cx="11014691" cy="645414"/>
            <a:chOff x="649986" y="539115"/>
            <a:chExt cx="11014691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649986" y="539115"/>
              <a:ext cx="329873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库存查询与维护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42142" y="7496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07 / 22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71500" y="1476375"/>
            <a:ext cx="6858000" cy="4333875"/>
            <a:chOff x="571500" y="1476375"/>
            <a:chExt cx="6858000" cy="4333875"/>
          </a:xfrm>
        </p:grpSpPr>
        <p:sp>
          <p:nvSpPr>
            <p:cNvPr id="7" name="Rectangle 7"/>
            <p:cNvSpPr/>
            <p:nvPr/>
          </p:nvSpPr>
          <p:spPr>
            <a:xfrm>
              <a:off x="571500" y="1476375"/>
              <a:ext cx="6858000" cy="4333875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7508" y="1590675"/>
              <a:ext cx="6385983" cy="4105275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685800" y="5314950"/>
              <a:ext cx="171450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00112" y="542639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管理员库存页面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845933" y="1550670"/>
            <a:ext cx="2929128" cy="3798189"/>
            <a:chOff x="7845933" y="1550670"/>
            <a:chExt cx="2929128" cy="3798189"/>
          </a:xfrm>
        </p:grpSpPr>
        <p:sp>
          <p:nvSpPr>
            <p:cNvPr id="12" name="TextBox 12"/>
            <p:cNvSpPr txBox="1"/>
            <p:nvPr/>
          </p:nvSpPr>
          <p:spPr>
            <a:xfrm>
              <a:off x="7845933" y="1550670"/>
              <a:ext cx="10421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管理员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48981" y="20916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新增库存批次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848981" y="2520315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编辑数量、状态与详情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48981" y="294894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删除无业务引用的批次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45933" y="3598545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普通用户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848981" y="4139565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按关键词、状态、血型筛选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848981" y="45681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查看库存详情与评论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848981" y="4996815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从可用库存创建申请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59892" y="5997892"/>
            <a:ext cx="401193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库存状态为停用时，系统拒绝创建新的用血申请。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76250" y="1200150"/>
            <a:ext cx="11239500" cy="5200650"/>
            <a:chOff x="476250" y="1200150"/>
            <a:chExt cx="11239500" cy="5200650"/>
          </a:xfrm>
        </p:grpSpPr>
        <p:sp>
          <p:nvSpPr>
            <p:cNvPr id="2" name="Freeform 2"/>
            <p:cNvSpPr/>
            <p:nvPr/>
          </p:nvSpPr>
          <p:spPr>
            <a:xfrm>
              <a:off x="476250" y="1200150"/>
              <a:ext cx="11239500" cy="5200650"/>
            </a:xfrm>
            <a:custGeom>
              <a:avLst/>
              <a:gdLst/>
              <a:ahLst/>
              <a:cxnLst/>
              <a:rect l="l" t="t" r="r" b="b"/>
              <a:pathLst>
                <a:path w="11239500" h="5200650">
                  <a:moveTo>
                    <a:pt x="0" y="0"/>
                  </a:moveTo>
                  <a:lnTo>
                    <a:pt x="11239500" y="0"/>
                  </a:lnTo>
                  <a:moveTo>
                    <a:pt x="0" y="5200650"/>
                  </a:moveTo>
                  <a:lnTo>
                    <a:pt x="11239500" y="520065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1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49986" y="539115"/>
            <a:ext cx="11014691" cy="645414"/>
            <a:chOff x="649986" y="539115"/>
            <a:chExt cx="11014691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649986" y="539115"/>
              <a:ext cx="584929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库存主表与 JDBC 主键回传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42142" y="7496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08 / 22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6750" y="1476375"/>
            <a:ext cx="7096125" cy="4381500"/>
            <a:chOff x="666750" y="1476375"/>
            <a:chExt cx="7096125" cy="4381500"/>
          </a:xfrm>
        </p:grpSpPr>
        <p:sp>
          <p:nvSpPr>
            <p:cNvPr id="7" name="Rectangle 7"/>
            <p:cNvSpPr/>
            <p:nvPr/>
          </p:nvSpPr>
          <p:spPr>
            <a:xfrm>
              <a:off x="666750" y="1476375"/>
              <a:ext cx="7096125" cy="438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5642" y="1778318"/>
              <a:ext cx="3982783" cy="34644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en-US" sz="1350" dirty="0">
                  <a:solidFill>
                    <a:srgbClr val="F7FAFC"/>
                  </a:solidFill>
                  <a:latin typeface="Consolas"/>
                  <a:ea typeface="Consolas"/>
                  <a:cs typeface="Consolas"/>
                </a:rPr>
                <a:t>INSERT INTO items (title, category_id, amount) </a:t>
              </a:r>
              <a:r>
                <a:rPr lang="en-US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VALUES (?, ?, ?);</a:t>
              </a:r>
            </a:p>
            <a:p>
              <a:pPr algn="l">
                <a:lnSpc>
                  <a:spcPts val="2700"/>
                </a:lnSpc>
                <a:spcBef>
                  <a:spcPts val="1200"/>
                </a:spcBef>
              </a:pPr>
              <a:r>
                <a:rPr lang="en-US" sz="1350" dirty="0">
                  <a:solidFill>
                    <a:srgbClr val="F7FAFC"/>
                  </a:solidFill>
                  <a:latin typeface="Consolas"/>
                  <a:ea typeface="Consolas"/>
                  <a:cs typeface="Consolas"/>
                </a:rPr>
                <a:t>FOREIGN KEY (category_id) REFERENCES categories(category_id) ON DELETE RESTRICT;</a:t>
              </a:r>
            </a:p>
            <a:p>
              <a:pPr algn="l">
                <a:lnSpc>
                  <a:spcPts val="2700"/>
                </a:lnSpc>
                <a:spcBef>
                  <a:spcPts val="1200"/>
                </a:spcBef>
              </a:pPr>
              <a:r>
                <a:rPr lang="en-US" sz="1350" dirty="0">
                  <a:solidFill>
                    <a:srgbClr val="F7FAFC"/>
                  </a:solidFill>
                  <a:latin typeface="Consolas"/>
                  <a:ea typeface="Consolas"/>
                  <a:cs typeface="Consolas"/>
                </a:rPr>
                <a:t>CHECK (amount &gt;= 0); CHECK (status IN (0, 1));</a:t>
              </a:r>
            </a:p>
            <a:p>
              <a:pPr algn="l">
                <a:lnSpc>
                  <a:spcPts val="2700"/>
                </a:lnSpc>
                <a:spcBef>
                  <a:spcPts val="1200"/>
                </a:spcBef>
              </a:pPr>
              <a:r>
                <a:rPr lang="en-US" sz="1350" dirty="0">
                  <a:solidFill>
                    <a:srgbClr val="F7FAFC"/>
                  </a:solidFill>
                  <a:latin typeface="Consolas"/>
                  <a:ea typeface="Consolas"/>
                  <a:cs typeface="Consolas"/>
                </a:rPr>
                <a:t>UPDATE items SET title=?, category_id=?, amount=?, status=? WHERE item_id=?;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001000" y="1614488"/>
            <a:ext cx="4631598" cy="3719512"/>
            <a:chOff x="8001000" y="1614488"/>
            <a:chExt cx="4631598" cy="3719512"/>
          </a:xfrm>
        </p:grpSpPr>
        <p:sp>
          <p:nvSpPr>
            <p:cNvPr id="10" name="TextBox 10"/>
            <p:cNvSpPr txBox="1"/>
            <p:nvPr/>
          </p:nvSpPr>
          <p:spPr>
            <a:xfrm>
              <a:off x="8132445" y="1614488"/>
              <a:ext cx="133616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ItemDAO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135112" y="2242661"/>
              <a:ext cx="404474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PreparedStatement 防止 SQL 注入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35112" y="2718911"/>
              <a:ext cx="449748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 RETURN_GENERATED_KEYS 读取 item_id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135112" y="3195161"/>
              <a:ext cx="314904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③ item_id 关联 MongoDB 详情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001000" y="4000500"/>
              <a:ext cx="3524250" cy="13335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68115" y="4242911"/>
              <a:ext cx="99002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数据分工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04461" y="4640104"/>
              <a:ext cx="271732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MySQL：数量、状态、外键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071908" y="4973479"/>
              <a:ext cx="338243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MongoDB：描述、图片、metadata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59892" y="5997892"/>
            <a:ext cx="3191664" cy="264033"/>
            <a:chOff x="659892" y="5997892"/>
            <a:chExt cx="3191664" cy="264033"/>
          </a:xfrm>
        </p:grpSpPr>
        <p:sp>
          <p:nvSpPr>
            <p:cNvPr id="19" name="TextBox 19"/>
            <p:cNvSpPr txBox="1"/>
            <p:nvPr/>
          </p:nvSpPr>
          <p:spPr>
            <a:xfrm>
              <a:off x="659892" y="5997892"/>
              <a:ext cx="3191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来源：mysql_schema.sql 与 ItemDAO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76250" y="1200150"/>
            <a:ext cx="11239500" cy="5200650"/>
            <a:chOff x="476250" y="1200150"/>
            <a:chExt cx="11239500" cy="5200650"/>
          </a:xfrm>
        </p:grpSpPr>
        <p:sp>
          <p:nvSpPr>
            <p:cNvPr id="2" name="Freeform 2"/>
            <p:cNvSpPr/>
            <p:nvPr/>
          </p:nvSpPr>
          <p:spPr>
            <a:xfrm>
              <a:off x="476250" y="1200150"/>
              <a:ext cx="11239500" cy="5200650"/>
            </a:xfrm>
            <a:custGeom>
              <a:avLst/>
              <a:gdLst/>
              <a:ahLst/>
              <a:cxnLst/>
              <a:rect l="l" t="t" r="r" b="b"/>
              <a:pathLst>
                <a:path w="11239500" h="5200650">
                  <a:moveTo>
                    <a:pt x="0" y="0"/>
                  </a:moveTo>
                  <a:lnTo>
                    <a:pt x="11239500" y="0"/>
                  </a:lnTo>
                  <a:moveTo>
                    <a:pt x="0" y="5200650"/>
                  </a:moveTo>
                  <a:lnTo>
                    <a:pt x="11239500" y="520065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1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49986" y="539115"/>
            <a:ext cx="11014691" cy="645414"/>
            <a:chOff x="649986" y="539115"/>
            <a:chExt cx="11014691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649986" y="539115"/>
              <a:ext cx="469811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库存详情、评论与评分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42142" y="7496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09 / 22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19125" y="1428750"/>
            <a:ext cx="7620000" cy="4762500"/>
            <a:chOff x="619125" y="1428750"/>
            <a:chExt cx="7620000" cy="4762500"/>
          </a:xfrm>
        </p:grpSpPr>
        <p:sp>
          <p:nvSpPr>
            <p:cNvPr id="7" name="Rectangle 7"/>
            <p:cNvSpPr/>
            <p:nvPr/>
          </p:nvSpPr>
          <p:spPr>
            <a:xfrm>
              <a:off x="619125" y="1428750"/>
              <a:ext cx="7620000" cy="47625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90625" y="1543050"/>
              <a:ext cx="6477000" cy="4533900"/>
            </a:xfrm>
            <a:prstGeom prst="rect">
              <a:avLst/>
            </a:prstGeom>
          </p:spPr>
        </p:pic>
      </p:grpSp>
      <p:grpSp>
        <p:nvGrpSpPr>
          <p:cNvPr id="20" name="Group 20"/>
          <p:cNvGrpSpPr/>
          <p:nvPr/>
        </p:nvGrpSpPr>
        <p:grpSpPr>
          <a:xfrm>
            <a:off x="8524875" y="1550670"/>
            <a:ext cx="3143250" cy="4402455"/>
            <a:chOff x="8524875" y="1550670"/>
            <a:chExt cx="3143250" cy="4402455"/>
          </a:xfrm>
        </p:grpSpPr>
        <p:sp>
          <p:nvSpPr>
            <p:cNvPr id="10" name="TextBox 10"/>
            <p:cNvSpPr txBox="1"/>
            <p:nvPr/>
          </p:nvSpPr>
          <p:spPr>
            <a:xfrm>
              <a:off x="8655558" y="15506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详情区域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58606" y="2139315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库存批次、分类、血型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58606" y="252031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数量、状态和描述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55558" y="3122295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评论互动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658606" y="37109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一至五星评分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58606" y="409194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文字与标签数组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658606" y="4472940"/>
              <a:ext cx="22354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上一条 / 下一条翻页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524875" y="5191125"/>
              <a:ext cx="3143250" cy="7620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908352" y="53787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普通用户只能删除自己的评论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90088" y="56454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管理员可以处理任意评论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76250" y="1200150"/>
            <a:ext cx="11239500" cy="5200650"/>
            <a:chOff x="476250" y="1200150"/>
            <a:chExt cx="11239500" cy="5200650"/>
          </a:xfrm>
        </p:grpSpPr>
        <p:sp>
          <p:nvSpPr>
            <p:cNvPr id="2" name="Freeform 2"/>
            <p:cNvSpPr/>
            <p:nvPr/>
          </p:nvSpPr>
          <p:spPr>
            <a:xfrm>
              <a:off x="476250" y="1200150"/>
              <a:ext cx="11239500" cy="5200650"/>
            </a:xfrm>
            <a:custGeom>
              <a:avLst/>
              <a:gdLst/>
              <a:ahLst/>
              <a:cxnLst/>
              <a:rect l="l" t="t" r="r" b="b"/>
              <a:pathLst>
                <a:path w="11239500" h="5200650">
                  <a:moveTo>
                    <a:pt x="0" y="0"/>
                  </a:moveTo>
                  <a:lnTo>
                    <a:pt x="11239500" y="0"/>
                  </a:lnTo>
                  <a:moveTo>
                    <a:pt x="0" y="5200650"/>
                  </a:moveTo>
                  <a:lnTo>
                    <a:pt x="11239500" y="520065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1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49986" y="539115"/>
            <a:ext cx="11014691" cy="645414"/>
            <a:chOff x="649986" y="539115"/>
            <a:chExt cx="11014691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649986" y="539115"/>
              <a:ext cx="641181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MongoDB 详情与评分聚合代码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42142" y="7496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10 / 22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6750" y="1476375"/>
            <a:ext cx="4095750" cy="3905250"/>
            <a:chOff x="666750" y="1476375"/>
            <a:chExt cx="4095750" cy="3905250"/>
          </a:xfrm>
        </p:grpSpPr>
        <p:sp>
          <p:nvSpPr>
            <p:cNvPr id="7" name="Rectangle 7"/>
            <p:cNvSpPr/>
            <p:nvPr/>
          </p:nvSpPr>
          <p:spPr>
            <a:xfrm>
              <a:off x="666750" y="1476375"/>
              <a:ext cx="4095750" cy="39052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5642" y="1778318"/>
              <a:ext cx="2216849" cy="23976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en-US" sz="1350" dirty="0">
                  <a:solidFill>
                    <a:srgbClr val="F7FAFC"/>
                  </a:solidFill>
                  <a:latin typeface="Consolas"/>
                  <a:ea typeface="Consolas"/>
                  <a:cs typeface="Consolas"/>
                </a:rPr>
                <a:t>{ "user_id": "2", "item_id": "20", </a:t>
              </a:r>
              <a:r>
                <a:rPr lang="zh-CN" sz="1350" dirty="0">
                  <a:solidFill>
                    <a:srgbClr val="F7FAFC"/>
                  </a:solidFill>
                  <a:latin typeface="Consolas"/>
                  <a:ea typeface="Microsoft YaHei"/>
                  <a:cs typeface="Consolas"/>
                </a:rPr>
                <a:t>"content": "测试评论",</a:t>
              </a:r>
              <a:r>
                <a:rPr lang="en-US" sz="1350" dirty="0">
                  <a:solidFill>
                    <a:srgbClr val="F7FAFC"/>
                  </a:solidFill>
                  <a:latin typeface="Consolas"/>
                  <a:ea typeface="Consolas"/>
                  <a:cs typeface="Consolas"/>
                </a:rPr>
                <a:t> "rating": 5, </a:t>
              </a:r>
              <a:r>
                <a:rPr lang="zh-CN" sz="1350" dirty="0">
                  <a:solidFill>
                    <a:srgbClr val="F7FAFC"/>
                  </a:solidFill>
                  <a:latin typeface="Consolas"/>
                  <a:ea typeface="Microsoft YaHei"/>
                  <a:cs typeface="Consolas"/>
                </a:rPr>
                <a:t>"tags": ["清晰", "完整"],</a:t>
              </a:r>
              <a:r>
                <a:rPr lang="en-US" sz="1350" dirty="0">
                  <a:solidFill>
                    <a:srgbClr val="F7FAFC"/>
                  </a:solidFill>
                  <a:latin typeface="Consolas"/>
                  <a:ea typeface="Consolas"/>
                  <a:cs typeface="Consolas"/>
                </a:rPr>
                <a:t> "created_at": Date(...) }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095875" y="1476375"/>
            <a:ext cx="6477000" cy="3905250"/>
            <a:chOff x="5095875" y="1476375"/>
            <a:chExt cx="6477000" cy="3905250"/>
          </a:xfrm>
        </p:grpSpPr>
        <p:sp>
          <p:nvSpPr>
            <p:cNvPr id="10" name="Rectangle 10"/>
            <p:cNvSpPr/>
            <p:nvPr/>
          </p:nvSpPr>
          <p:spPr>
            <a:xfrm>
              <a:off x="5095875" y="1476375"/>
              <a:ext cx="6477000" cy="390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374767" y="1778318"/>
              <a:ext cx="3151251" cy="33120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en-US" sz="1350" dirty="0">
                  <a:solidFill>
                    <a:srgbClr val="F7FAFC"/>
                  </a:solidFill>
                  <a:latin typeface="Consolas"/>
                  <a:ea typeface="Consolas"/>
                  <a:cs typeface="Consolas"/>
                </a:rPr>
                <a:t>db.comments.aggregate([ </a:t>
              </a:r>
              <a:r>
                <a:rPr lang="en-US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{ $group: { </a:t>
              </a:r>
              <a:r>
                <a:rPr lang="en-US" sz="1350" dirty="0">
                  <a:solidFill>
                    <a:srgbClr val="F7FAFC"/>
                  </a:solidFill>
                  <a:latin typeface="Consolas"/>
                  <a:ea typeface="Consolas"/>
                  <a:cs typeface="Consolas"/>
                </a:rPr>
                <a:t>_id: "$item_id", comment_count: { $sum: 1 }, average_rating: { $avg: "$rating" }, tags: { $addToSet: "$tags" } }}, { $sort: { average_rating: -1, _id: 1 }} ]);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66750" y="5619750"/>
            <a:ext cx="10906125" cy="619125"/>
            <a:chOff x="666750" y="5619750"/>
            <a:chExt cx="10906125" cy="619125"/>
          </a:xfrm>
        </p:grpSpPr>
        <p:sp>
          <p:nvSpPr>
            <p:cNvPr id="13" name="Rectangle 13"/>
            <p:cNvSpPr/>
            <p:nvPr/>
          </p:nvSpPr>
          <p:spPr>
            <a:xfrm>
              <a:off x="666750" y="5619750"/>
              <a:ext cx="10906125" cy="619125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302329" y="5825490"/>
              <a:ext cx="76254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文档直接保存标签数组；评分数量与平均值在 MongoDB 中完成聚合。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76250" y="1200150"/>
            <a:ext cx="11239500" cy="5200650"/>
            <a:chOff x="476250" y="1200150"/>
            <a:chExt cx="11239500" cy="5200650"/>
          </a:xfrm>
        </p:grpSpPr>
        <p:sp>
          <p:nvSpPr>
            <p:cNvPr id="2" name="Freeform 2"/>
            <p:cNvSpPr/>
            <p:nvPr/>
          </p:nvSpPr>
          <p:spPr>
            <a:xfrm>
              <a:off x="476250" y="1200150"/>
              <a:ext cx="11239500" cy="5200650"/>
            </a:xfrm>
            <a:custGeom>
              <a:avLst/>
              <a:gdLst/>
              <a:ahLst/>
              <a:cxnLst/>
              <a:rect l="l" t="t" r="r" b="b"/>
              <a:pathLst>
                <a:path w="11239500" h="5200650">
                  <a:moveTo>
                    <a:pt x="0" y="0"/>
                  </a:moveTo>
                  <a:lnTo>
                    <a:pt x="11239500" y="0"/>
                  </a:lnTo>
                  <a:moveTo>
                    <a:pt x="0" y="5200650"/>
                  </a:moveTo>
                  <a:lnTo>
                    <a:pt x="11239500" y="520065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1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49986" y="539115"/>
            <a:ext cx="11014691" cy="645414"/>
            <a:chOff x="649986" y="539115"/>
            <a:chExt cx="11014691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649986" y="539115"/>
              <a:ext cx="18993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推荐批次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42142" y="7496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11 / 22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71500" y="1476375"/>
            <a:ext cx="5334000" cy="3714750"/>
            <a:chOff x="571500" y="1476375"/>
            <a:chExt cx="5334000" cy="3714750"/>
          </a:xfrm>
        </p:grpSpPr>
        <p:sp>
          <p:nvSpPr>
            <p:cNvPr id="7" name="Rectangle 7"/>
            <p:cNvSpPr/>
            <p:nvPr/>
          </p:nvSpPr>
          <p:spPr>
            <a:xfrm>
              <a:off x="571500" y="1476375"/>
              <a:ext cx="5334000" cy="37147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5800" y="1692729"/>
              <a:ext cx="5105400" cy="3282043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685800" y="4695825"/>
              <a:ext cx="171450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00112" y="48072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管理员推荐页面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286500" y="1476375"/>
            <a:ext cx="5334000" cy="3714750"/>
            <a:chOff x="6286500" y="1476375"/>
            <a:chExt cx="5334000" cy="3714750"/>
          </a:xfrm>
        </p:grpSpPr>
        <p:sp>
          <p:nvSpPr>
            <p:cNvPr id="12" name="Rectangle 12"/>
            <p:cNvSpPr/>
            <p:nvPr/>
          </p:nvSpPr>
          <p:spPr>
            <a:xfrm>
              <a:off x="6286500" y="1476375"/>
              <a:ext cx="5334000" cy="37147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00800" y="1692729"/>
              <a:ext cx="5105400" cy="3282043"/>
            </a:xfrm>
            <a:prstGeom prst="rect">
              <a:avLst/>
            </a:prstGeom>
          </p:spPr>
        </p:pic>
        <p:sp>
          <p:nvSpPr>
            <p:cNvPr id="14" name="Rectangle 14"/>
            <p:cNvSpPr/>
            <p:nvPr/>
          </p:nvSpPr>
          <p:spPr>
            <a:xfrm>
              <a:off x="6400800" y="4695825"/>
              <a:ext cx="1714500" cy="381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24244" y="48072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普通用户推荐页面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48106" y="5425440"/>
            <a:ext cx="6803136" cy="733044"/>
            <a:chOff x="848106" y="5425440"/>
            <a:chExt cx="6803136" cy="733044"/>
          </a:xfrm>
        </p:grpSpPr>
        <p:sp>
          <p:nvSpPr>
            <p:cNvPr id="17" name="TextBox 17"/>
            <p:cNvSpPr txBox="1"/>
            <p:nvPr/>
          </p:nvSpPr>
          <p:spPr>
            <a:xfrm>
              <a:off x="848106" y="5425440"/>
              <a:ext cx="68031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展示：库存数量、分类、血型、操作热度、平均评分和订单数量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8106" y="580644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推荐理由：同类库存、近期关注度较高或可用库存推荐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76250" y="1200150"/>
            <a:ext cx="11239500" cy="5200650"/>
            <a:chOff x="476250" y="1200150"/>
            <a:chExt cx="11239500" cy="5200650"/>
          </a:xfrm>
        </p:grpSpPr>
        <p:sp>
          <p:nvSpPr>
            <p:cNvPr id="2" name="Freeform 2"/>
            <p:cNvSpPr/>
            <p:nvPr/>
          </p:nvSpPr>
          <p:spPr>
            <a:xfrm>
              <a:off x="476250" y="1200150"/>
              <a:ext cx="11239500" cy="5200650"/>
            </a:xfrm>
            <a:custGeom>
              <a:avLst/>
              <a:gdLst/>
              <a:ahLst/>
              <a:cxnLst/>
              <a:rect l="l" t="t" r="r" b="b"/>
              <a:pathLst>
                <a:path w="11239500" h="5200650">
                  <a:moveTo>
                    <a:pt x="0" y="0"/>
                  </a:moveTo>
                  <a:lnTo>
                    <a:pt x="11239500" y="0"/>
                  </a:lnTo>
                  <a:moveTo>
                    <a:pt x="0" y="5200650"/>
                  </a:moveTo>
                  <a:lnTo>
                    <a:pt x="11239500" y="520065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1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49986" y="539115"/>
            <a:ext cx="11014691" cy="645414"/>
            <a:chOff x="649986" y="539115"/>
            <a:chExt cx="11014691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649986" y="539115"/>
              <a:ext cx="516456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推荐结果的跨库计算代码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42142" y="7496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12 / 22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6750" y="1476375"/>
            <a:ext cx="7239000" cy="4095750"/>
            <a:chOff x="666750" y="1476375"/>
            <a:chExt cx="7239000" cy="4095750"/>
          </a:xfrm>
        </p:grpSpPr>
        <p:sp>
          <p:nvSpPr>
            <p:cNvPr id="7" name="Rectangle 7"/>
            <p:cNvSpPr/>
            <p:nvPr/>
          </p:nvSpPr>
          <p:spPr>
            <a:xfrm>
              <a:off x="666750" y="1476375"/>
              <a:ext cx="7239000" cy="409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5642" y="1778318"/>
              <a:ext cx="3219831" cy="28738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en-US" sz="1350" dirty="0">
                  <a:solidFill>
                    <a:srgbClr val="F7FAFC"/>
                  </a:solidFill>
                  <a:latin typeface="Consolas"/>
                  <a:ea typeface="Consolas"/>
                  <a:cs typeface="Consolas"/>
                </a:rPr>
                <a:t>SELECT i.item_id, i.title, i.amount, c.category_id, c.name FROM items i JOIN categories c ON c.category_id = i.category_id </a:t>
              </a:r>
              <a:r>
                <a:rPr lang="en-US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WHERE i.status = 1 AND i.amount &gt; 0;</a:t>
              </a:r>
            </a:p>
            <a:p>
              <a:pPr algn="l">
                <a:lnSpc>
                  <a:spcPts val="2400"/>
                </a:lnSpc>
                <a:spcBef>
                  <a:spcPts val="1350"/>
                </a:spcBef>
              </a:pPr>
              <a:r>
                <a:rPr lang="en-US" sz="1350" dirty="0">
                  <a:solidFill>
                    <a:srgbClr val="F7FAFC"/>
                  </a:solidFill>
                  <a:latin typeface="Consolas"/>
                  <a:ea typeface="Consolas"/>
                  <a:cs typeface="Consolas"/>
                </a:rPr>
                <a:t>db.agg_item_attention_report.find() .sort({ action_count: -1, average_rating: -1 });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096250" y="1567815"/>
            <a:ext cx="3238500" cy="3876294"/>
            <a:chOff x="8096250" y="1567815"/>
            <a:chExt cx="3238500" cy="3876294"/>
          </a:xfrm>
        </p:grpSpPr>
        <p:sp>
          <p:nvSpPr>
            <p:cNvPr id="10" name="TextBox 10"/>
            <p:cNvSpPr txBox="1"/>
            <p:nvPr/>
          </p:nvSpPr>
          <p:spPr>
            <a:xfrm>
              <a:off x="8325231" y="1567815"/>
              <a:ext cx="14677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MySQL 数据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7517" y="199739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库存、分类、申请记录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25231" y="2615565"/>
              <a:ext cx="16731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MongoDB 数据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27517" y="30451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详情、行为热度、评分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8096250" y="361950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25231" y="39014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排序顺序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25231" y="4330065"/>
              <a:ext cx="18114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1. 用户相关分类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25231" y="4711065"/>
              <a:ext cx="13267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2. 行为热度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25231" y="5092065"/>
              <a:ext cx="13267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3. 平均评分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59892" y="5902642"/>
            <a:ext cx="41350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代码来源：RecommendService.recommendItems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76250" y="1200150"/>
            <a:ext cx="11239500" cy="5200650"/>
            <a:chOff x="476250" y="1200150"/>
            <a:chExt cx="11239500" cy="5200650"/>
          </a:xfrm>
        </p:grpSpPr>
        <p:sp>
          <p:nvSpPr>
            <p:cNvPr id="2" name="Freeform 2"/>
            <p:cNvSpPr/>
            <p:nvPr/>
          </p:nvSpPr>
          <p:spPr>
            <a:xfrm>
              <a:off x="476250" y="1200150"/>
              <a:ext cx="11239500" cy="5200650"/>
            </a:xfrm>
            <a:custGeom>
              <a:avLst/>
              <a:gdLst/>
              <a:ahLst/>
              <a:cxnLst/>
              <a:rect l="l" t="t" r="r" b="b"/>
              <a:pathLst>
                <a:path w="11239500" h="5200650">
                  <a:moveTo>
                    <a:pt x="0" y="0"/>
                  </a:moveTo>
                  <a:lnTo>
                    <a:pt x="11239500" y="0"/>
                  </a:lnTo>
                  <a:moveTo>
                    <a:pt x="0" y="5200650"/>
                  </a:moveTo>
                  <a:lnTo>
                    <a:pt x="11239500" y="520065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1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49986" y="539115"/>
            <a:ext cx="11014691" cy="645414"/>
            <a:chOff x="649986" y="539115"/>
            <a:chExt cx="11014691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649986" y="539115"/>
              <a:ext cx="423165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用血申请创建与查询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42142" y="7496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13 / 22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23875" y="1476375"/>
            <a:ext cx="5286375" cy="3667125"/>
            <a:chOff x="523875" y="1476375"/>
            <a:chExt cx="5286375" cy="3667125"/>
          </a:xfrm>
        </p:grpSpPr>
        <p:sp>
          <p:nvSpPr>
            <p:cNvPr id="7" name="Rectangle 7"/>
            <p:cNvSpPr/>
            <p:nvPr/>
          </p:nvSpPr>
          <p:spPr>
            <a:xfrm>
              <a:off x="523875" y="1476375"/>
              <a:ext cx="5286375" cy="3667125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175" y="1684224"/>
              <a:ext cx="5057775" cy="3251427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638175" y="4648200"/>
              <a:ext cx="1714500" cy="381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43356" y="47596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选择可用库存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191250" y="1476375"/>
            <a:ext cx="5429250" cy="3667125"/>
            <a:chOff x="6191250" y="1476375"/>
            <a:chExt cx="5429250" cy="3667125"/>
          </a:xfrm>
        </p:grpSpPr>
        <p:sp>
          <p:nvSpPr>
            <p:cNvPr id="12" name="Rectangle 12"/>
            <p:cNvSpPr/>
            <p:nvPr/>
          </p:nvSpPr>
          <p:spPr>
            <a:xfrm>
              <a:off x="6191250" y="1476375"/>
              <a:ext cx="5429250" cy="3667125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05550" y="1638300"/>
              <a:ext cx="5200650" cy="3343275"/>
            </a:xfrm>
            <a:prstGeom prst="rect">
              <a:avLst/>
            </a:prstGeom>
          </p:spPr>
        </p:pic>
        <p:sp>
          <p:nvSpPr>
            <p:cNvPr id="14" name="Rectangle 14"/>
            <p:cNvSpPr/>
            <p:nvPr/>
          </p:nvSpPr>
          <p:spPr>
            <a:xfrm>
              <a:off x="6305550" y="4648200"/>
              <a:ext cx="171450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10731" y="47596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查看申请记录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00481" y="5425440"/>
            <a:ext cx="10005441" cy="741235"/>
            <a:chOff x="800481" y="5425440"/>
            <a:chExt cx="10005441" cy="741235"/>
          </a:xfrm>
        </p:grpSpPr>
        <p:sp>
          <p:nvSpPr>
            <p:cNvPr id="17" name="TextBox 17"/>
            <p:cNvSpPr txBox="1"/>
            <p:nvPr/>
          </p:nvSpPr>
          <p:spPr>
            <a:xfrm>
              <a:off x="800481" y="54254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选择库存批次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848356" y="54254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419856" y="54254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输入申请数量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467731" y="54254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39231" y="542544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创建待审批记录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77606" y="54254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849106" y="54254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查询、修改或删除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2767" y="5902642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普通用户只能查看和维护自己的待审批申请。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76250" y="1200150"/>
            <a:ext cx="11239500" cy="5200650"/>
            <a:chOff x="476250" y="1200150"/>
            <a:chExt cx="11239500" cy="5200650"/>
          </a:xfrm>
        </p:grpSpPr>
        <p:sp>
          <p:nvSpPr>
            <p:cNvPr id="2" name="Freeform 2"/>
            <p:cNvSpPr/>
            <p:nvPr/>
          </p:nvSpPr>
          <p:spPr>
            <a:xfrm>
              <a:off x="476250" y="1200150"/>
              <a:ext cx="11239500" cy="5200650"/>
            </a:xfrm>
            <a:custGeom>
              <a:avLst/>
              <a:gdLst/>
              <a:ahLst/>
              <a:cxnLst/>
              <a:rect l="l" t="t" r="r" b="b"/>
              <a:pathLst>
                <a:path w="11239500" h="5200650">
                  <a:moveTo>
                    <a:pt x="0" y="0"/>
                  </a:moveTo>
                  <a:lnTo>
                    <a:pt x="11239500" y="0"/>
                  </a:lnTo>
                  <a:moveTo>
                    <a:pt x="0" y="5200650"/>
                  </a:moveTo>
                  <a:lnTo>
                    <a:pt x="11239500" y="520065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1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49986" y="539115"/>
            <a:ext cx="11014691" cy="645414"/>
            <a:chOff x="649986" y="539115"/>
            <a:chExt cx="11014691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649986" y="539115"/>
              <a:ext cx="656394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用血申请的 SQL 与 JDBC 插入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42142" y="7496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14 / 22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6750" y="1476375"/>
            <a:ext cx="7096125" cy="4381500"/>
            <a:chOff x="666750" y="1476375"/>
            <a:chExt cx="7096125" cy="4381500"/>
          </a:xfrm>
        </p:grpSpPr>
        <p:sp>
          <p:nvSpPr>
            <p:cNvPr id="7" name="Rectangle 7"/>
            <p:cNvSpPr/>
            <p:nvPr/>
          </p:nvSpPr>
          <p:spPr>
            <a:xfrm>
              <a:off x="666750" y="1476375"/>
              <a:ext cx="7096125" cy="438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5642" y="1778318"/>
              <a:ext cx="4179951" cy="34644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en-US" sz="1350" dirty="0">
                  <a:solidFill>
                    <a:srgbClr val="F7FAFC"/>
                  </a:solidFill>
                  <a:latin typeface="Consolas"/>
                  <a:ea typeface="Consolas"/>
                  <a:cs typeface="Consolas"/>
                </a:rPr>
                <a:t>INSERT INTO orders (user_id, item_id, amount) </a:t>
              </a:r>
              <a:r>
                <a:rPr lang="en-US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VALUES (?, ?, ?);</a:t>
              </a:r>
            </a:p>
            <a:p>
              <a:pPr algn="l">
                <a:lnSpc>
                  <a:spcPts val="2700"/>
                </a:lnSpc>
                <a:spcBef>
                  <a:spcPts val="1200"/>
                </a:spcBef>
              </a:pPr>
              <a:r>
                <a:rPr lang="en-US" sz="1350" dirty="0">
                  <a:solidFill>
                    <a:srgbClr val="F7FAFC"/>
                  </a:solidFill>
                  <a:latin typeface="Consolas"/>
                  <a:ea typeface="Consolas"/>
                  <a:cs typeface="Consolas"/>
                </a:rPr>
                <a:t>FOREIGN KEY (user_id) REFERENCES users(user_id) ON DELETE RESTRICT; FOREIGN KEY (item_id) REFERENCES items(item_id) ON DELETE RESTRICT;</a:t>
              </a:r>
            </a:p>
            <a:p>
              <a:pPr algn="l">
                <a:lnSpc>
                  <a:spcPts val="2700"/>
                </a:lnSpc>
                <a:spcBef>
                  <a:spcPts val="1200"/>
                </a:spcBef>
              </a:pPr>
              <a:r>
                <a:rPr lang="en-US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CHECK (amount &gt; 0); </a:t>
              </a:r>
              <a:r>
                <a:rPr lang="en-US" sz="1350" dirty="0">
                  <a:solidFill>
                    <a:srgbClr val="F7FAFC"/>
                  </a:solidFill>
                  <a:latin typeface="Consolas"/>
                  <a:ea typeface="Consolas"/>
                  <a:cs typeface="Consolas"/>
                </a:rPr>
                <a:t>CHECK (status IN (0, 1, 2));</a:t>
              </a:r>
            </a:p>
            <a:p>
              <a:pPr algn="l">
                <a:lnSpc>
                  <a:spcPts val="2700"/>
                </a:lnSpc>
                <a:spcBef>
                  <a:spcPts val="1200"/>
                </a:spcBef>
              </a:pPr>
              <a:r>
                <a:rPr lang="zh-CN" sz="1350" dirty="0">
                  <a:solidFill>
                    <a:srgbClr val="F7FAFC"/>
                  </a:solidFill>
                  <a:latin typeface="Consolas"/>
                  <a:ea typeface="Microsoft YaHei"/>
                  <a:cs typeface="Consolas"/>
                </a:rPr>
                <a:t>-- 初始 status = 0，表示待审批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001000" y="1614488"/>
            <a:ext cx="4079176" cy="3719512"/>
            <a:chOff x="8001000" y="1614488"/>
            <a:chExt cx="4079176" cy="3719512"/>
          </a:xfrm>
        </p:grpSpPr>
        <p:sp>
          <p:nvSpPr>
            <p:cNvPr id="10" name="TextBox 10"/>
            <p:cNvSpPr txBox="1"/>
            <p:nvPr/>
          </p:nvSpPr>
          <p:spPr>
            <a:xfrm>
              <a:off x="8132445" y="1614488"/>
              <a:ext cx="159265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OrderDAO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135112" y="2242661"/>
              <a:ext cx="275530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setAutoCommit(false)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35112" y="2718911"/>
              <a:ext cx="394506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 PreparedStatement 绑定 3 个参数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135112" y="3195161"/>
              <a:ext cx="385857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③ RETURN_GENERATED_KEYS 取主键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35112" y="3671411"/>
              <a:ext cx="321286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④ 成功 commit，异常 rollback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001000" y="4333875"/>
              <a:ext cx="3524250" cy="1000125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88285" y="45653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双重保障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558388" y="4925854"/>
              <a:ext cx="240947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JDBC 事务 + 数据库约束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59892" y="5997892"/>
            <a:ext cx="4577777" cy="264033"/>
            <a:chOff x="659892" y="5997892"/>
            <a:chExt cx="4577777" cy="264033"/>
          </a:xfrm>
        </p:grpSpPr>
        <p:sp>
          <p:nvSpPr>
            <p:cNvPr id="19" name="TextBox 19"/>
            <p:cNvSpPr txBox="1"/>
            <p:nvPr/>
          </p:nvSpPr>
          <p:spPr>
            <a:xfrm>
              <a:off x="659892" y="5997892"/>
              <a:ext cx="45777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来源：mysql_schema.sql 与 OrderDAO.createOrder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76250" y="1200150"/>
            <a:ext cx="11239500" cy="5200650"/>
            <a:chOff x="476250" y="1200150"/>
            <a:chExt cx="11239500" cy="5200650"/>
          </a:xfrm>
        </p:grpSpPr>
        <p:sp>
          <p:nvSpPr>
            <p:cNvPr id="2" name="Freeform 2"/>
            <p:cNvSpPr/>
            <p:nvPr/>
          </p:nvSpPr>
          <p:spPr>
            <a:xfrm>
              <a:off x="476250" y="1200150"/>
              <a:ext cx="11239500" cy="5200650"/>
            </a:xfrm>
            <a:custGeom>
              <a:avLst/>
              <a:gdLst/>
              <a:ahLst/>
              <a:cxnLst/>
              <a:rect l="l" t="t" r="r" b="b"/>
              <a:pathLst>
                <a:path w="11239500" h="5200650">
                  <a:moveTo>
                    <a:pt x="0" y="0"/>
                  </a:moveTo>
                  <a:lnTo>
                    <a:pt x="11239500" y="0"/>
                  </a:lnTo>
                  <a:moveTo>
                    <a:pt x="0" y="5200650"/>
                  </a:moveTo>
                  <a:lnTo>
                    <a:pt x="11239500" y="520065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1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49986" y="539115"/>
            <a:ext cx="11014691" cy="645414"/>
            <a:chOff x="649986" y="539115"/>
            <a:chExt cx="11014691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649986" y="539115"/>
              <a:ext cx="236582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管理员审批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42142" y="7496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15 / 22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19125" y="1476375"/>
            <a:ext cx="7620000" cy="4572000"/>
            <a:chOff x="619125" y="1476375"/>
            <a:chExt cx="7620000" cy="4572000"/>
          </a:xfrm>
        </p:grpSpPr>
        <p:sp>
          <p:nvSpPr>
            <p:cNvPr id="7" name="Rectangle 7"/>
            <p:cNvSpPr/>
            <p:nvPr/>
          </p:nvSpPr>
          <p:spPr>
            <a:xfrm>
              <a:off x="619125" y="1476375"/>
              <a:ext cx="7620000" cy="45720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50925" y="1590675"/>
              <a:ext cx="6756400" cy="4343400"/>
            </a:xfrm>
            <a:prstGeom prst="rect">
              <a:avLst/>
            </a:prstGeom>
          </p:spPr>
        </p:pic>
      </p:grpSp>
      <p:grpSp>
        <p:nvGrpSpPr>
          <p:cNvPr id="19" name="Group 19"/>
          <p:cNvGrpSpPr/>
          <p:nvPr/>
        </p:nvGrpSpPr>
        <p:grpSpPr>
          <a:xfrm>
            <a:off x="8524875" y="1550670"/>
            <a:ext cx="3143250" cy="4164330"/>
            <a:chOff x="8524875" y="1550670"/>
            <a:chExt cx="3143250" cy="4164330"/>
          </a:xfrm>
        </p:grpSpPr>
        <p:sp>
          <p:nvSpPr>
            <p:cNvPr id="10" name="TextBox 10"/>
            <p:cNvSpPr txBox="1"/>
            <p:nvPr/>
          </p:nvSpPr>
          <p:spPr>
            <a:xfrm>
              <a:off x="8655558" y="15506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审批操作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58606" y="2139315"/>
              <a:ext cx="19204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筛选待审批申请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58606" y="2615565"/>
              <a:ext cx="16781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 打开申请详情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58606" y="3091815"/>
              <a:ext cx="19204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③ 更新为完成状态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658606" y="3568065"/>
              <a:ext cx="16781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④ 同步扣减库存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524875" y="4429125"/>
              <a:ext cx="3143250" cy="1285875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578492" y="46158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状态处理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53562" y="504539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完成：扣减库存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362694" y="53311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取消：只更新状态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76250" y="1200150"/>
            <a:ext cx="11239500" cy="5200650"/>
            <a:chOff x="476250" y="1200150"/>
            <a:chExt cx="11239500" cy="5200650"/>
          </a:xfrm>
        </p:grpSpPr>
        <p:sp>
          <p:nvSpPr>
            <p:cNvPr id="2" name="Freeform 2"/>
            <p:cNvSpPr/>
            <p:nvPr/>
          </p:nvSpPr>
          <p:spPr>
            <a:xfrm>
              <a:off x="476250" y="1200150"/>
              <a:ext cx="11239500" cy="5200650"/>
            </a:xfrm>
            <a:custGeom>
              <a:avLst/>
              <a:gdLst/>
              <a:ahLst/>
              <a:cxnLst/>
              <a:rect l="l" t="t" r="r" b="b"/>
              <a:pathLst>
                <a:path w="11239500" h="5200650">
                  <a:moveTo>
                    <a:pt x="0" y="0"/>
                  </a:moveTo>
                  <a:lnTo>
                    <a:pt x="11239500" y="0"/>
                  </a:lnTo>
                  <a:moveTo>
                    <a:pt x="0" y="5200650"/>
                  </a:moveTo>
                  <a:lnTo>
                    <a:pt x="11239500" y="520065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1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49986" y="539115"/>
            <a:ext cx="11014691" cy="645414"/>
            <a:chOff x="649986" y="539115"/>
            <a:chExt cx="11014691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649986" y="539115"/>
              <a:ext cx="609748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审批事务与库存并发控制代码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42142" y="7496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16 / 22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6750" y="1476375"/>
            <a:ext cx="7143750" cy="4191000"/>
            <a:chOff x="666750" y="1476375"/>
            <a:chExt cx="7143750" cy="4191000"/>
          </a:xfrm>
        </p:grpSpPr>
        <p:sp>
          <p:nvSpPr>
            <p:cNvPr id="7" name="Rectangle 7"/>
            <p:cNvSpPr/>
            <p:nvPr/>
          </p:nvSpPr>
          <p:spPr>
            <a:xfrm>
              <a:off x="666750" y="1476375"/>
              <a:ext cx="7143750" cy="419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5642" y="1778318"/>
              <a:ext cx="3939921" cy="32739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en-US" sz="1350" dirty="0">
                  <a:solidFill>
                    <a:srgbClr val="F7FAFC"/>
                  </a:solidFill>
                  <a:latin typeface="Consolas"/>
                  <a:ea typeface="Consolas"/>
                  <a:cs typeface="Consolas"/>
                </a:rPr>
                <a:t>START TRANSACTION;</a:t>
              </a:r>
            </a:p>
            <a:p>
              <a:pPr algn="l">
                <a:lnSpc>
                  <a:spcPts val="2400"/>
                </a:lnSpc>
                <a:spcBef>
                  <a:spcPts val="600"/>
                </a:spcBef>
              </a:pPr>
              <a:r>
                <a:rPr lang="en-US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SELECT o.item_id, o.amount, o.status, i.amount, i.status FROM orders o JOIN items i ON i.item_id = o.item_id WHERE o.order_id = ? FOR UPDATE;</a:t>
              </a:r>
            </a:p>
            <a:p>
              <a:pPr algn="l">
                <a:lnSpc>
                  <a:spcPts val="2400"/>
                </a:lnSpc>
                <a:spcBef>
                  <a:spcPts val="750"/>
                </a:spcBef>
              </a:pPr>
              <a:r>
                <a:rPr lang="en-US" sz="1350" dirty="0">
                  <a:solidFill>
                    <a:srgbClr val="F7FAFC"/>
                  </a:solidFill>
                  <a:latin typeface="Consolas"/>
                  <a:ea typeface="Consolas"/>
                  <a:cs typeface="Consolas"/>
                </a:rPr>
                <a:t>UPDATE orders SET status=1 WHERE order_id=?; UPDATE items SET amount=amount-? WHERE item_id=?;</a:t>
              </a:r>
            </a:p>
            <a:p>
              <a:pPr algn="l">
                <a:lnSpc>
                  <a:spcPts val="2400"/>
                </a:lnSpc>
                <a:spcBef>
                  <a:spcPts val="750"/>
                </a:spcBef>
              </a:pPr>
              <a:r>
                <a:rPr lang="zh-CN" sz="1350" dirty="0">
                  <a:solidFill>
                    <a:srgbClr val="F7FAFC"/>
                  </a:solidFill>
                  <a:latin typeface="Consolas"/>
                  <a:ea typeface="Microsoft YaHei"/>
                  <a:cs typeface="Consolas"/>
                </a:rPr>
                <a:t>COMMIT; -- 异常时 ROLLBACK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191500" y="1571625"/>
            <a:ext cx="3143250" cy="3810000"/>
            <a:chOff x="8191500" y="1571625"/>
            <a:chExt cx="3143250" cy="3810000"/>
          </a:xfrm>
        </p:grpSpPr>
        <p:sp>
          <p:nvSpPr>
            <p:cNvPr id="10" name="Rectangle 10"/>
            <p:cNvSpPr/>
            <p:nvPr/>
          </p:nvSpPr>
          <p:spPr>
            <a:xfrm>
              <a:off x="8191500" y="1571625"/>
              <a:ext cx="3143250" cy="666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905875" y="17868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锁定申请与库存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9763125" y="2238375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8191500" y="2619375"/>
              <a:ext cx="3143250" cy="6667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63559" y="28346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重新检查状态与数量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9763125" y="3286125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8191500" y="3667125"/>
              <a:ext cx="3143250" cy="6667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63559" y="38823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更新申请并扣减库存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9763125" y="4333875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8191500" y="4714875"/>
              <a:ext cx="3143250" cy="6667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148191" y="49301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提交或回滚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659892" y="5950268"/>
            <a:ext cx="676414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代码来源：OrderDAO.completeOrder；行锁只覆盖目标记录，不锁定全部库存。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76250" y="1200150"/>
            <a:ext cx="11239500" cy="5200650"/>
            <a:chOff x="476250" y="1200150"/>
            <a:chExt cx="11239500" cy="5200650"/>
          </a:xfrm>
        </p:grpSpPr>
        <p:sp>
          <p:nvSpPr>
            <p:cNvPr id="2" name="Freeform 2"/>
            <p:cNvSpPr/>
            <p:nvPr/>
          </p:nvSpPr>
          <p:spPr>
            <a:xfrm>
              <a:off x="476250" y="1200150"/>
              <a:ext cx="11239500" cy="5200650"/>
            </a:xfrm>
            <a:custGeom>
              <a:avLst/>
              <a:gdLst/>
              <a:ahLst/>
              <a:cxnLst/>
              <a:rect l="l" t="t" r="r" b="b"/>
              <a:pathLst>
                <a:path w="11239500" h="5200650">
                  <a:moveTo>
                    <a:pt x="0" y="0"/>
                  </a:moveTo>
                  <a:lnTo>
                    <a:pt x="11239500" y="0"/>
                  </a:lnTo>
                  <a:moveTo>
                    <a:pt x="0" y="5200650"/>
                  </a:moveTo>
                  <a:lnTo>
                    <a:pt x="11239500" y="520065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1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49986" y="539115"/>
            <a:ext cx="11014691" cy="645414"/>
            <a:chOff x="649986" y="539115"/>
            <a:chExt cx="11014691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649986" y="539115"/>
              <a:ext cx="18993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统计报表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42142" y="7496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17 / 22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23875" y="1476375"/>
            <a:ext cx="5429250" cy="3905250"/>
            <a:chOff x="523875" y="1476375"/>
            <a:chExt cx="5429250" cy="3905250"/>
          </a:xfrm>
        </p:grpSpPr>
        <p:sp>
          <p:nvSpPr>
            <p:cNvPr id="7" name="Rectangle 7"/>
            <p:cNvSpPr/>
            <p:nvPr/>
          </p:nvSpPr>
          <p:spPr>
            <a:xfrm>
              <a:off x="523875" y="1476375"/>
              <a:ext cx="5429250" cy="39052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175" y="1757362"/>
              <a:ext cx="5200650" cy="3343275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638175" y="4886325"/>
              <a:ext cx="171450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34224" y="49977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管理员报表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238875" y="1476375"/>
            <a:ext cx="5429250" cy="3905250"/>
            <a:chOff x="6238875" y="1476375"/>
            <a:chExt cx="5429250" cy="3905250"/>
          </a:xfrm>
        </p:grpSpPr>
        <p:sp>
          <p:nvSpPr>
            <p:cNvPr id="12" name="Rectangle 12"/>
            <p:cNvSpPr/>
            <p:nvPr/>
          </p:nvSpPr>
          <p:spPr>
            <a:xfrm>
              <a:off x="6238875" y="1476375"/>
              <a:ext cx="5429250" cy="39052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53175" y="1757362"/>
              <a:ext cx="5200650" cy="3343275"/>
            </a:xfrm>
            <a:prstGeom prst="rect">
              <a:avLst/>
            </a:prstGeom>
          </p:spPr>
        </p:pic>
        <p:sp>
          <p:nvSpPr>
            <p:cNvPr id="14" name="Rectangle 14"/>
            <p:cNvSpPr/>
            <p:nvPr/>
          </p:nvSpPr>
          <p:spPr>
            <a:xfrm>
              <a:off x="6353175" y="4886325"/>
              <a:ext cx="1714500" cy="381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58356" y="49977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普通用户报表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05231" y="5663565"/>
            <a:ext cx="10575417" cy="352044"/>
            <a:chOff x="705231" y="5663565"/>
            <a:chExt cx="10575417" cy="352044"/>
          </a:xfrm>
        </p:grpSpPr>
        <p:sp>
          <p:nvSpPr>
            <p:cNvPr id="17" name="TextBox 17"/>
            <p:cNvSpPr txBox="1"/>
            <p:nvPr/>
          </p:nvSpPr>
          <p:spPr>
            <a:xfrm>
              <a:off x="705231" y="5663565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管理员：月度用血、操作热度、评论评分、系统审计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58356" y="5663565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普通用户：个人申请、评论评分和月度统计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76250" y="1200150"/>
            <a:ext cx="11239500" cy="5200650"/>
            <a:chOff x="476250" y="1200150"/>
            <a:chExt cx="11239500" cy="5200650"/>
          </a:xfrm>
        </p:grpSpPr>
        <p:sp>
          <p:nvSpPr>
            <p:cNvPr id="2" name="Freeform 2"/>
            <p:cNvSpPr/>
            <p:nvPr/>
          </p:nvSpPr>
          <p:spPr>
            <a:xfrm>
              <a:off x="476250" y="1200150"/>
              <a:ext cx="11239500" cy="5200650"/>
            </a:xfrm>
            <a:custGeom>
              <a:avLst/>
              <a:gdLst/>
              <a:ahLst/>
              <a:cxnLst/>
              <a:rect l="l" t="t" r="r" b="b"/>
              <a:pathLst>
                <a:path w="11239500" h="5200650">
                  <a:moveTo>
                    <a:pt x="0" y="0"/>
                  </a:moveTo>
                  <a:lnTo>
                    <a:pt x="11239500" y="0"/>
                  </a:lnTo>
                  <a:moveTo>
                    <a:pt x="0" y="5200650"/>
                  </a:moveTo>
                  <a:lnTo>
                    <a:pt x="11239500" y="520065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1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49986" y="539115"/>
            <a:ext cx="11014691" cy="645414"/>
            <a:chOff x="649986" y="539115"/>
            <a:chExt cx="11014691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649986" y="539115"/>
              <a:ext cx="730961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MySQL 报表与 MongoDB 聚合代码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42142" y="7496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18 / 22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71500" y="1476375"/>
            <a:ext cx="5286375" cy="4095750"/>
            <a:chOff x="571500" y="1476375"/>
            <a:chExt cx="5286375" cy="4095750"/>
          </a:xfrm>
        </p:grpSpPr>
        <p:sp>
          <p:nvSpPr>
            <p:cNvPr id="7" name="Rectangle 7"/>
            <p:cNvSpPr/>
            <p:nvPr/>
          </p:nvSpPr>
          <p:spPr>
            <a:xfrm>
              <a:off x="571500" y="1476375"/>
              <a:ext cx="5286375" cy="409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48106" y="1710690"/>
              <a:ext cx="19996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MySQL 月度报表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50392" y="2235518"/>
              <a:ext cx="3348418" cy="31977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en-US" sz="1350" dirty="0">
                  <a:solidFill>
                    <a:srgbClr val="F7FAFC"/>
                  </a:solidFill>
                  <a:latin typeface="Consolas"/>
                  <a:ea typeface="Consolas"/>
                  <a:cs typeface="Consolas"/>
                </a:rPr>
                <a:t>CALL sp_monthly_report(?, ?);</a:t>
              </a:r>
            </a:p>
            <a:p>
              <a:pPr algn="l">
                <a:lnSpc>
                  <a:spcPts val="2400"/>
                </a:lnSpc>
                <a:spcBef>
                  <a:spcPts val="750"/>
                </a:spcBef>
              </a:pPr>
              <a:r>
                <a:rPr lang="en-US" sz="1350" dirty="0">
                  <a:solidFill>
                    <a:srgbClr val="F7FAFC"/>
                  </a:solidFill>
                  <a:latin typeface="Consolas"/>
                  <a:ea typeface="Consolas"/>
                  <a:cs typeface="Consolas"/>
                </a:rPr>
                <a:t>SELECT c.name, COUNT(*) order_count, SUM(CASE WHEN o.status=1 THEN o.amount ELSE 0 END) AS used_amount</a:t>
              </a:r>
            </a:p>
            <a:p>
              <a:pPr algn="l">
                <a:lnSpc>
                  <a:spcPts val="2400"/>
                </a:lnSpc>
                <a:spcBef>
                  <a:spcPts val="750"/>
                </a:spcBef>
              </a:pPr>
              <a:r>
                <a:rPr lang="en-US" sz="1350" dirty="0">
                  <a:solidFill>
                    <a:srgbClr val="F7FAFC"/>
                  </a:solidFill>
                  <a:latin typeface="Consolas"/>
                  <a:ea typeface="Consolas"/>
                  <a:cs typeface="Consolas"/>
                </a:rPr>
                <a:t>FROM orders o JOIN items i ON i.item_id=o.item_id JOIN categories c ON c.category_id=i.category_id GROUP BY c.name;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191250" y="1476375"/>
            <a:ext cx="5429250" cy="4095750"/>
            <a:chOff x="6191250" y="1476375"/>
            <a:chExt cx="5429250" cy="4095750"/>
          </a:xfrm>
        </p:grpSpPr>
        <p:sp>
          <p:nvSpPr>
            <p:cNvPr id="11" name="Rectangle 11"/>
            <p:cNvSpPr/>
            <p:nvPr/>
          </p:nvSpPr>
          <p:spPr>
            <a:xfrm>
              <a:off x="6191250" y="1476375"/>
              <a:ext cx="5429250" cy="40957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467856" y="1710690"/>
              <a:ext cx="21943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MongoDB 聚合统计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70142" y="2235518"/>
              <a:ext cx="2636901" cy="30072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en-US" sz="1350" dirty="0">
                  <a:solidFill>
                    <a:srgbClr val="F7FAFC"/>
                  </a:solidFill>
                  <a:latin typeface="Consolas"/>
                  <a:ea typeface="Consolas"/>
                  <a:cs typeface="Consolas"/>
                </a:rPr>
                <a:t>db.action_logs.aggregate([ { $match: filter }, { $group: { _id: "$item_id", action_count: { $sum: 1 }, last_action_at: { $max: "$created_at" } }}, { $sort: { action_count: -1 } } ]);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48106" y="5806440"/>
            <a:ext cx="7045452" cy="352044"/>
            <a:chOff x="848106" y="5806440"/>
            <a:chExt cx="7045452" cy="352044"/>
          </a:xfrm>
        </p:grpSpPr>
        <p:sp>
          <p:nvSpPr>
            <p:cNvPr id="15" name="TextBox 15"/>
            <p:cNvSpPr txBox="1"/>
            <p:nvPr/>
          </p:nvSpPr>
          <p:spPr>
            <a:xfrm>
              <a:off x="848106" y="5806440"/>
              <a:ext cx="70454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关系型报表由存储过程完成；热度、评分和审计由文档聚合完成。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76250" y="1200150"/>
            <a:ext cx="11239500" cy="5200650"/>
            <a:chOff x="476250" y="1200150"/>
            <a:chExt cx="11239500" cy="5200650"/>
          </a:xfrm>
        </p:grpSpPr>
        <p:sp>
          <p:nvSpPr>
            <p:cNvPr id="2" name="Freeform 2"/>
            <p:cNvSpPr/>
            <p:nvPr/>
          </p:nvSpPr>
          <p:spPr>
            <a:xfrm>
              <a:off x="476250" y="1200150"/>
              <a:ext cx="11239500" cy="5200650"/>
            </a:xfrm>
            <a:custGeom>
              <a:avLst/>
              <a:gdLst/>
              <a:ahLst/>
              <a:cxnLst/>
              <a:rect l="l" t="t" r="r" b="b"/>
              <a:pathLst>
                <a:path w="11239500" h="5200650">
                  <a:moveTo>
                    <a:pt x="0" y="0"/>
                  </a:moveTo>
                  <a:lnTo>
                    <a:pt x="11239500" y="0"/>
                  </a:lnTo>
                  <a:moveTo>
                    <a:pt x="0" y="5200650"/>
                  </a:moveTo>
                  <a:lnTo>
                    <a:pt x="11239500" y="520065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1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49986" y="539115"/>
            <a:ext cx="11014691" cy="645414"/>
            <a:chOff x="649986" y="539115"/>
            <a:chExt cx="11014691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649986" y="539115"/>
              <a:ext cx="423165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系统日志与操作审计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42142" y="7496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19 / 22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19125" y="1476375"/>
            <a:ext cx="7810500" cy="4572000"/>
            <a:chOff x="619125" y="1476375"/>
            <a:chExt cx="7810500" cy="4572000"/>
          </a:xfrm>
        </p:grpSpPr>
        <p:sp>
          <p:nvSpPr>
            <p:cNvPr id="7" name="Rectangle 7"/>
            <p:cNvSpPr/>
            <p:nvPr/>
          </p:nvSpPr>
          <p:spPr>
            <a:xfrm>
              <a:off x="619125" y="1476375"/>
              <a:ext cx="7810500" cy="45720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46175" y="1590675"/>
              <a:ext cx="6756400" cy="4343400"/>
            </a:xfrm>
            <a:prstGeom prst="rect">
              <a:avLst/>
            </a:prstGeom>
          </p:spPr>
        </p:pic>
      </p:grpSp>
      <p:grpSp>
        <p:nvGrpSpPr>
          <p:cNvPr id="19" name="Group 19"/>
          <p:cNvGrpSpPr/>
          <p:nvPr/>
        </p:nvGrpSpPr>
        <p:grpSpPr>
          <a:xfrm>
            <a:off x="8715375" y="1550670"/>
            <a:ext cx="2857500" cy="4402455"/>
            <a:chOff x="8715375" y="1550670"/>
            <a:chExt cx="2857500" cy="4402455"/>
          </a:xfrm>
        </p:grpSpPr>
        <p:sp>
          <p:nvSpPr>
            <p:cNvPr id="10" name="TextBox 10"/>
            <p:cNvSpPr txBox="1"/>
            <p:nvPr/>
          </p:nvSpPr>
          <p:spPr>
            <a:xfrm>
              <a:off x="8846058" y="15506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日志类型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849106" y="2139315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登录成功与失败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849106" y="256794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库存与申请操作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849106" y="2996565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警告与异常信息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846058" y="3598545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查询范围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849106" y="41871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管理员：全局日志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849106" y="4615815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普通用户：个人行为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715375" y="5334000"/>
              <a:ext cx="2857500" cy="619125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137714" y="557879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关键操作形成完整追踪链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76250" y="1200150"/>
            <a:ext cx="11239500" cy="5200650"/>
            <a:chOff x="476250" y="1200150"/>
            <a:chExt cx="11239500" cy="5200650"/>
          </a:xfrm>
        </p:grpSpPr>
        <p:sp>
          <p:nvSpPr>
            <p:cNvPr id="2" name="Freeform 2"/>
            <p:cNvSpPr/>
            <p:nvPr/>
          </p:nvSpPr>
          <p:spPr>
            <a:xfrm>
              <a:off x="476250" y="1200150"/>
              <a:ext cx="11239500" cy="5200650"/>
            </a:xfrm>
            <a:custGeom>
              <a:avLst/>
              <a:gdLst/>
              <a:ahLst/>
              <a:cxnLst/>
              <a:rect l="l" t="t" r="r" b="b"/>
              <a:pathLst>
                <a:path w="11239500" h="5200650">
                  <a:moveTo>
                    <a:pt x="0" y="0"/>
                  </a:moveTo>
                  <a:lnTo>
                    <a:pt x="11239500" y="0"/>
                  </a:lnTo>
                  <a:moveTo>
                    <a:pt x="0" y="5200650"/>
                  </a:moveTo>
                  <a:lnTo>
                    <a:pt x="11239500" y="520065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1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49986" y="539115"/>
            <a:ext cx="11014691" cy="645414"/>
            <a:chOff x="649986" y="539115"/>
            <a:chExt cx="11014691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649986" y="539115"/>
              <a:ext cx="516456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日志索引与并发写入代码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42142" y="7496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20 / 22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71500" y="1476375"/>
            <a:ext cx="5381625" cy="2857500"/>
            <a:chOff x="571500" y="1476375"/>
            <a:chExt cx="5381625" cy="2857500"/>
          </a:xfrm>
        </p:grpSpPr>
        <p:sp>
          <p:nvSpPr>
            <p:cNvPr id="7" name="Rectangle 7"/>
            <p:cNvSpPr/>
            <p:nvPr/>
          </p:nvSpPr>
          <p:spPr>
            <a:xfrm>
              <a:off x="571500" y="1476375"/>
              <a:ext cx="5381625" cy="2857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48106" y="1729740"/>
              <a:ext cx="21943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MongoDB 组合索引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50392" y="2235518"/>
              <a:ext cx="3151251" cy="15594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en-US" sz="1350" dirty="0">
                  <a:solidFill>
                    <a:srgbClr val="F7FAFC"/>
                  </a:solidFill>
                  <a:latin typeface="Consolas"/>
                  <a:ea typeface="Consolas"/>
                  <a:cs typeface="Consolas"/>
                </a:rPr>
                <a:t>system_logs.createIndex( { log_type: 1, timestamp: -1 }, { name: "idx_system_logs_type_timestamp" } );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238875" y="1476375"/>
            <a:ext cx="5381625" cy="3290126"/>
            <a:chOff x="6238875" y="1476375"/>
            <a:chExt cx="5381625" cy="3290126"/>
          </a:xfrm>
        </p:grpSpPr>
        <p:sp>
          <p:nvSpPr>
            <p:cNvPr id="11" name="Rectangle 11"/>
            <p:cNvSpPr/>
            <p:nvPr/>
          </p:nvSpPr>
          <p:spPr>
            <a:xfrm>
              <a:off x="6238875" y="1476375"/>
              <a:ext cx="5381625" cy="2857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515481" y="1729740"/>
              <a:ext cx="21943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MongoDB 审计聚合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17767" y="2235518"/>
              <a:ext cx="3116961" cy="25309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en-US" sz="1350" dirty="0">
                  <a:solidFill>
                    <a:srgbClr val="F7FAFC"/>
                  </a:solidFill>
                  <a:latin typeface="Consolas"/>
                  <a:ea typeface="Consolas"/>
                  <a:cs typeface="Consolas"/>
                </a:rPr>
                <a:t>db.system_logs.aggregate([ { $group: { _id: { log_type: "$log_type", log_level: "$log_level" }, log_count: { $sum: 1 }, last_log_at: { $max: "$timestamp" } }} ]);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1500" y="4714875"/>
            <a:ext cx="11049000" cy="1190625"/>
            <a:chOff x="571500" y="4714875"/>
            <a:chExt cx="11049000" cy="1190625"/>
          </a:xfrm>
        </p:grpSpPr>
        <p:sp>
          <p:nvSpPr>
            <p:cNvPr id="15" name="Rectangle 15"/>
            <p:cNvSpPr/>
            <p:nvPr/>
          </p:nvSpPr>
          <p:spPr>
            <a:xfrm>
              <a:off x="571500" y="4714875"/>
              <a:ext cx="11049000" cy="1190625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95731" y="49491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索引键顺序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57856" y="494919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等值过滤字段在前，时间倒序字段在后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95731" y="53778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查询目标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657856" y="5377815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索引支持日志筛选，聚合视图支持审计统计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76250" y="1200150"/>
            <a:ext cx="11239500" cy="5200650"/>
            <a:chOff x="476250" y="1200150"/>
            <a:chExt cx="11239500" cy="5200650"/>
          </a:xfrm>
        </p:grpSpPr>
        <p:sp>
          <p:nvSpPr>
            <p:cNvPr id="2" name="Freeform 2"/>
            <p:cNvSpPr/>
            <p:nvPr/>
          </p:nvSpPr>
          <p:spPr>
            <a:xfrm>
              <a:off x="476250" y="1200150"/>
              <a:ext cx="11239500" cy="5200650"/>
            </a:xfrm>
            <a:custGeom>
              <a:avLst/>
              <a:gdLst/>
              <a:ahLst/>
              <a:cxnLst/>
              <a:rect l="l" t="t" r="r" b="b"/>
              <a:pathLst>
                <a:path w="11239500" h="5200650">
                  <a:moveTo>
                    <a:pt x="0" y="0"/>
                  </a:moveTo>
                  <a:lnTo>
                    <a:pt x="11239500" y="0"/>
                  </a:lnTo>
                  <a:moveTo>
                    <a:pt x="0" y="5200650"/>
                  </a:moveTo>
                  <a:lnTo>
                    <a:pt x="11239500" y="520065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1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649986" y="539115"/>
            <a:ext cx="11014691" cy="645414"/>
            <a:chOff x="649986" y="539115"/>
            <a:chExt cx="11014691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649986" y="539115"/>
              <a:ext cx="469811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自动化测试与性能结果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42142" y="7496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21 / 22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71500" y="1476375"/>
            <a:ext cx="11049000" cy="1619250"/>
            <a:chOff x="571500" y="1476375"/>
            <a:chExt cx="11049000" cy="1619250"/>
          </a:xfrm>
        </p:grpSpPr>
        <p:grpSp>
          <p:nvGrpSpPr>
            <p:cNvPr id="10" name="Group 10"/>
            <p:cNvGrpSpPr/>
            <p:nvPr/>
          </p:nvGrpSpPr>
          <p:grpSpPr>
            <a:xfrm>
              <a:off x="571500" y="1476375"/>
              <a:ext cx="2381250" cy="1619250"/>
              <a:chOff x="571500" y="1476375"/>
              <a:chExt cx="2381250" cy="161925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71500" y="1476375"/>
                <a:ext cx="2381250" cy="16192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369908" y="1720215"/>
                <a:ext cx="784433" cy="93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4800" b="1" dirty="0">
                    <a:solidFill>
                      <a:srgbClr val="F7FAFC"/>
                    </a:solidFill>
                    <a:latin typeface="+mn-lt"/>
                    <a:ea typeface="+mn-ea"/>
                    <a:cs typeface="+mn-cs"/>
                  </a:rPr>
                  <a:t>49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026033" y="2520315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F7FAFC"/>
                    </a:solidFill>
                    <a:latin typeface="+mn-lt"/>
                    <a:ea typeface="+mn-ea"/>
                    <a:cs typeface="+mn-cs"/>
                  </a:rPr>
                  <a:t>常规测试通过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3190875" y="1476375"/>
              <a:ext cx="2381250" cy="1619250"/>
              <a:chOff x="3190875" y="1476375"/>
              <a:chExt cx="2381250" cy="161925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3190875" y="1476375"/>
                <a:ext cx="2381250" cy="161925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3516994" y="1768792"/>
                <a:ext cx="1729011" cy="847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4350" b="1" dirty="0">
                    <a:solidFill>
                      <a:srgbClr val="F7FAFC"/>
                    </a:solidFill>
                    <a:latin typeface="+mn-lt"/>
                    <a:ea typeface="+mn-ea"/>
                    <a:cs typeface="+mn-cs"/>
                  </a:rPr>
                  <a:t>10000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645408" y="2520315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F7FAFC"/>
                    </a:solidFill>
                    <a:latin typeface="+mn-lt"/>
                    <a:ea typeface="+mn-ea"/>
                    <a:cs typeface="+mn-cs"/>
                  </a:rPr>
                  <a:t>日志完整写入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5810250" y="1476375"/>
              <a:ext cx="2381250" cy="1619250"/>
              <a:chOff x="5810250" y="1476375"/>
              <a:chExt cx="2381250" cy="161925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5810250" y="1476375"/>
                <a:ext cx="2381250" cy="161925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6608658" y="1720215"/>
                <a:ext cx="784433" cy="93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4800" b="1" dirty="0">
                    <a:solidFill>
                      <a:srgbClr val="F7FAFC"/>
                    </a:solidFill>
                    <a:latin typeface="+mn-lt"/>
                    <a:ea typeface="+mn-ea"/>
                    <a:cs typeface="+mn-cs"/>
                  </a:rPr>
                  <a:t>50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507099" y="2520315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F7FAFC"/>
                    </a:solidFill>
                    <a:latin typeface="+mn-lt"/>
                    <a:ea typeface="+mn-ea"/>
                    <a:cs typeface="+mn-cs"/>
                  </a:rPr>
                  <a:t>并发线程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8429625" y="1476375"/>
              <a:ext cx="3190875" cy="1619250"/>
              <a:chOff x="8429625" y="1476375"/>
              <a:chExt cx="3190875" cy="16192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8429625" y="1476375"/>
                <a:ext cx="3190875" cy="16192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9022450" y="1802130"/>
                <a:ext cx="1995701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3600" b="1" dirty="0">
                    <a:solidFill>
                      <a:srgbClr val="F7FAFC"/>
                    </a:solidFill>
                    <a:latin typeface="+mn-lt"/>
                    <a:ea typeface="+mn-ea"/>
                    <a:cs typeface="+mn-cs"/>
                  </a:rPr>
                  <a:t>3926.19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629508" y="2425065"/>
                <a:ext cx="78158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F7FAFC"/>
                    </a:solidFill>
                    <a:latin typeface="+mn-lt"/>
                    <a:ea typeface="+mn-ea"/>
                    <a:cs typeface="+mn-cs"/>
                  </a:rPr>
                  <a:t>条 / 秒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436427" y="2759392"/>
                <a:ext cx="116774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F7FAFC"/>
                    </a:solidFill>
                    <a:latin typeface="+mn-lt"/>
                    <a:ea typeface="+mn-ea"/>
                    <a:cs typeface="+mn-cs"/>
                  </a:rPr>
                  <a:t>耗时 2.547 秒</a:t>
                </a:r>
              </a:p>
            </p:txBody>
          </p:sp>
        </p:grpSp>
      </p:grpSp>
      <p:grpSp>
        <p:nvGrpSpPr>
          <p:cNvPr id="29" name="Group 29"/>
          <p:cNvGrpSpPr/>
          <p:nvPr/>
        </p:nvGrpSpPr>
        <p:grpSpPr>
          <a:xfrm>
            <a:off x="571500" y="3476625"/>
            <a:ext cx="11049000" cy="2381250"/>
            <a:chOff x="571500" y="3476625"/>
            <a:chExt cx="11049000" cy="2381250"/>
          </a:xfrm>
        </p:grpSpPr>
        <p:sp>
          <p:nvSpPr>
            <p:cNvPr id="25" name="Rectangle 25"/>
            <p:cNvSpPr/>
            <p:nvPr/>
          </p:nvSpPr>
          <p:spPr>
            <a:xfrm>
              <a:off x="571500" y="3476625"/>
              <a:ext cx="5238750" cy="23812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16592" y="3590925"/>
              <a:ext cx="3348567" cy="2152650"/>
            </a:xfrm>
            <a:prstGeom prst="rect">
              <a:avLst/>
            </a:prstGeom>
          </p:spPr>
        </p:pic>
        <p:sp>
          <p:nvSpPr>
            <p:cNvPr id="27" name="Rectangle 27"/>
            <p:cNvSpPr/>
            <p:nvPr/>
          </p:nvSpPr>
          <p:spPr>
            <a:xfrm>
              <a:off x="6191250" y="3476625"/>
              <a:ext cx="5429250" cy="23812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31592" y="3590925"/>
              <a:ext cx="3348567" cy="2152650"/>
            </a:xfrm>
            <a:prstGeom prst="rect">
              <a:avLst/>
            </a:prstGeom>
          </p:spPr>
        </p:pic>
      </p:grpSp>
      <p:sp>
        <p:nvSpPr>
          <p:cNvPr id="30" name="TextBox 30"/>
          <p:cNvSpPr txBox="1"/>
          <p:nvPr/>
        </p:nvSpPr>
        <p:spPr>
          <a:xfrm>
            <a:off x="659892" y="6026468"/>
            <a:ext cx="699195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Tests run: 50 · Failures: 0 · Errors: 0 · Skipped: 1；压力测试单独启用后通过。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76250" y="428625"/>
            <a:ext cx="11239500" cy="6000750"/>
            <a:chOff x="476250" y="428625"/>
            <a:chExt cx="11239500" cy="6000750"/>
          </a:xfrm>
        </p:grpSpPr>
        <p:sp>
          <p:nvSpPr>
            <p:cNvPr id="2" name="Rectangle 2"/>
            <p:cNvSpPr/>
            <p:nvPr/>
          </p:nvSpPr>
          <p:spPr>
            <a:xfrm>
              <a:off x="476250" y="428625"/>
              <a:ext cx="11239500" cy="6000750"/>
            </a:xfrm>
            <a:prstGeom prst="rect">
              <a:avLst/>
            </a:prstGeom>
            <a:noFill/>
            <a:ln w="19050">
              <a:solidFill>
                <a:srgbClr val="E8F0F7"/>
              </a:solidFill>
            </a:ln>
          </p:spPr>
        </p:sp>
        <p:sp>
          <p:nvSpPr>
            <p:cNvPr id="3" name="Freeform 3"/>
            <p:cNvSpPr/>
            <p:nvPr/>
          </p:nvSpPr>
          <p:spPr>
            <a:xfrm>
              <a:off x="476250" y="1238250"/>
              <a:ext cx="11239500" cy="9525"/>
            </a:xfrm>
            <a:custGeom>
              <a:avLst/>
              <a:gdLst/>
              <a:ahLst/>
              <a:cxnLst/>
              <a:rect l="l" t="t" r="r" b="b"/>
              <a:pathLst>
                <a:path w="11239500" h="9525">
                  <a:moveTo>
                    <a:pt x="0" y="0"/>
                  </a:moveTo>
                  <a:lnTo>
                    <a:pt x="11239500" y="0"/>
                  </a:lnTo>
                </a:path>
              </a:pathLst>
            </a:custGeom>
            <a:noFill/>
            <a:ln w="19050">
              <a:solidFill>
                <a:srgbClr val="E8F0F7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792861" y="596265"/>
            <a:ext cx="10871816" cy="645414"/>
            <a:chOff x="792861" y="596265"/>
            <a:chExt cx="10871816" cy="645414"/>
          </a:xfrm>
        </p:grpSpPr>
        <p:sp>
          <p:nvSpPr>
            <p:cNvPr id="5" name="TextBox 5"/>
            <p:cNvSpPr txBox="1"/>
            <p:nvPr/>
          </p:nvSpPr>
          <p:spPr>
            <a:xfrm>
              <a:off x="792861" y="596265"/>
              <a:ext cx="423165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项目总结与演示流程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042142" y="80676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E8F0F7"/>
                  </a:solidFill>
                  <a:latin typeface="+mn-lt"/>
                  <a:ea typeface="+mn-ea"/>
                  <a:cs typeface="+mn-cs"/>
                </a:rPr>
                <a:t>22 / 22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2000" y="1571625"/>
            <a:ext cx="10525125" cy="1785176"/>
            <a:chOff x="762000" y="1571625"/>
            <a:chExt cx="10525125" cy="1785176"/>
          </a:xfrm>
        </p:grpSpPr>
        <p:grpSp>
          <p:nvGrpSpPr>
            <p:cNvPr id="10" name="Group 10"/>
            <p:cNvGrpSpPr/>
            <p:nvPr/>
          </p:nvGrpSpPr>
          <p:grpSpPr>
            <a:xfrm>
              <a:off x="762000" y="1571625"/>
              <a:ext cx="2381250" cy="1785176"/>
              <a:chOff x="762000" y="1571625"/>
              <a:chExt cx="2381250" cy="1785176"/>
            </a:xfrm>
          </p:grpSpPr>
          <p:pic>
            <p:nvPicPr>
              <p:cNvPr id="8" name="Image 8"/>
              <p:cNvPicPr>
                <a:picLocks noChangeAspect="1"/>
              </p:cNvPicPr>
              <p:nvPr/>
            </p:nvPicPr>
            <p:blipFill>
              <a:blip r:embed="rId3"/>
              <a:srcRect t="435" b="435"/>
              <a:stretch>
                <a:fillRect/>
              </a:stretch>
            </p:blipFill>
            <p:spPr>
              <a:xfrm>
                <a:off x="762000" y="1571625"/>
                <a:ext cx="2381250" cy="1428750"/>
              </a:xfrm>
              <a:prstGeom prst="rect">
                <a:avLst/>
              </a:prstGeom>
            </p:spPr>
          </p:pic>
          <p:sp>
            <p:nvSpPr>
              <p:cNvPr id="9" name="TextBox 9"/>
              <p:cNvSpPr txBox="1"/>
              <p:nvPr/>
            </p:nvSpPr>
            <p:spPr>
              <a:xfrm>
                <a:off x="1764030" y="3092768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F7FAFC"/>
                    </a:solidFill>
                    <a:latin typeface="+mn-lt"/>
                    <a:ea typeface="+mn-ea"/>
                    <a:cs typeface="+mn-cs"/>
                  </a:rPr>
                  <a:t>登录</a:t>
                </a: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3476625" y="1571625"/>
              <a:ext cx="2381250" cy="1785176"/>
              <a:chOff x="3476625" y="1571625"/>
              <a:chExt cx="2381250" cy="1785176"/>
            </a:xfrm>
          </p:grpSpPr>
          <p:pic>
            <p:nvPicPr>
              <p:cNvPr id="11" name="Image 11"/>
              <p:cNvPicPr>
                <a:picLocks noChangeAspect="1"/>
              </p:cNvPicPr>
              <p:nvPr/>
            </p:nvPicPr>
            <p:blipFill>
              <a:blip r:embed="rId4"/>
              <a:srcRect t="3333" b="3333"/>
              <a:stretch>
                <a:fillRect/>
              </a:stretch>
            </p:blipFill>
            <p:spPr>
              <a:xfrm>
                <a:off x="3476625" y="1571625"/>
                <a:ext cx="2381250" cy="1428750"/>
              </a:xfrm>
              <a:prstGeom prst="rect">
                <a:avLst/>
              </a:prstGeom>
            </p:spPr>
          </p:pic>
          <p:sp>
            <p:nvSpPr>
              <p:cNvPr id="12" name="TextBox 12"/>
              <p:cNvSpPr txBox="1"/>
              <p:nvPr/>
            </p:nvSpPr>
            <p:spPr>
              <a:xfrm>
                <a:off x="4478655" y="3092768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F7FAFC"/>
                    </a:solidFill>
                    <a:latin typeface="+mn-lt"/>
                    <a:ea typeface="+mn-ea"/>
                    <a:cs typeface="+mn-cs"/>
                  </a:rPr>
                  <a:t>库存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6191250" y="1571625"/>
              <a:ext cx="2381250" cy="1785176"/>
              <a:chOff x="6191250" y="1571625"/>
              <a:chExt cx="2381250" cy="1785176"/>
            </a:xfrm>
          </p:grpSpPr>
          <p:pic>
            <p:nvPicPr>
              <p:cNvPr id="14" name="Image 14"/>
              <p:cNvPicPr>
                <a:picLocks noChangeAspect="1"/>
              </p:cNvPicPr>
              <p:nvPr/>
            </p:nvPicPr>
            <p:blipFill>
              <a:blip r:embed="rId5"/>
              <a:srcRect t="3333" b="3333"/>
              <a:stretch>
                <a:fillRect/>
              </a:stretch>
            </p:blipFill>
            <p:spPr>
              <a:xfrm>
                <a:off x="6191250" y="1571625"/>
                <a:ext cx="2381250" cy="1428750"/>
              </a:xfrm>
              <a:prstGeom prst="rect">
                <a:avLst/>
              </a:prstGeom>
            </p:spPr>
          </p:pic>
          <p:sp>
            <p:nvSpPr>
              <p:cNvPr id="15" name="TextBox 15"/>
              <p:cNvSpPr txBox="1"/>
              <p:nvPr/>
            </p:nvSpPr>
            <p:spPr>
              <a:xfrm>
                <a:off x="7193280" y="3092768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F7FAFC"/>
                    </a:solidFill>
                    <a:latin typeface="+mn-lt"/>
                    <a:ea typeface="+mn-ea"/>
                    <a:cs typeface="+mn-cs"/>
                  </a:rPr>
                  <a:t>申请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8905875" y="1571625"/>
              <a:ext cx="2381250" cy="1785176"/>
              <a:chOff x="8905875" y="1571625"/>
              <a:chExt cx="2381250" cy="1785176"/>
            </a:xfrm>
          </p:grpSpPr>
          <p:pic>
            <p:nvPicPr>
              <p:cNvPr id="17" name="Image 17"/>
              <p:cNvPicPr>
                <a:picLocks noChangeAspect="1"/>
              </p:cNvPicPr>
              <p:nvPr/>
            </p:nvPicPr>
            <p:blipFill>
              <a:blip r:embed="rId6"/>
              <a:srcRect t="3333" b="3333"/>
              <a:stretch>
                <a:fillRect/>
              </a:stretch>
            </p:blipFill>
            <p:spPr>
              <a:xfrm>
                <a:off x="8905875" y="1571625"/>
                <a:ext cx="2381250" cy="1428750"/>
              </a:xfrm>
              <a:prstGeom prst="rect">
                <a:avLst/>
              </a:prstGeom>
            </p:spPr>
          </p:pic>
          <p:sp>
            <p:nvSpPr>
              <p:cNvPr id="18" name="TextBox 18"/>
              <p:cNvSpPr txBox="1"/>
              <p:nvPr/>
            </p:nvSpPr>
            <p:spPr>
              <a:xfrm>
                <a:off x="9907905" y="3092768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F7FAFC"/>
                    </a:solidFill>
                    <a:latin typeface="+mn-lt"/>
                    <a:ea typeface="+mn-ea"/>
                    <a:cs typeface="+mn-cs"/>
                  </a:rPr>
                  <a:t>审批</a:t>
                </a:r>
              </a:p>
            </p:txBody>
          </p:sp>
        </p:grpSp>
      </p:grpSp>
      <p:grpSp>
        <p:nvGrpSpPr>
          <p:cNvPr id="26" name="Group 26"/>
          <p:cNvGrpSpPr/>
          <p:nvPr/>
        </p:nvGrpSpPr>
        <p:grpSpPr>
          <a:xfrm>
            <a:off x="800481" y="3710940"/>
            <a:ext cx="10486644" cy="2242185"/>
            <a:chOff x="800481" y="3710940"/>
            <a:chExt cx="10486644" cy="2242185"/>
          </a:xfrm>
        </p:grpSpPr>
        <p:sp>
          <p:nvSpPr>
            <p:cNvPr id="21" name="TextBox 21"/>
            <p:cNvSpPr txBox="1"/>
            <p:nvPr/>
          </p:nvSpPr>
          <p:spPr>
            <a:xfrm>
              <a:off x="800481" y="3710940"/>
              <a:ext cx="5881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MySQL：用户、分类、库存、申请、档案与核心事务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0481" y="4139565"/>
              <a:ext cx="62355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MongoDB：详情、评论、行为日志、系统日志与聚合统计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00481" y="4568190"/>
              <a:ext cx="64078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Java Service：业务校验、角色权限、跨库协调与推荐计算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09625" y="5191125"/>
              <a:ext cx="10477500" cy="762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498816" y="5408295"/>
              <a:ext cx="909911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7FAFC"/>
                  </a:solidFill>
                  <a:latin typeface="+mn-lt"/>
                  <a:ea typeface="+mn-ea"/>
                  <a:cs typeface="+mn-cs"/>
                </a:rPr>
                <a:t>下面进入系统演示：登录 → 库存 → 申请 → 审批 → 报表 → 日志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答辩PPT">
  <a:themeElements>
    <a:clrScheme name="答辩PPT">
      <a:dk1>
        <a:srgbClr val="1F2933"/>
      </a:dk1>
      <a:lt1>
        <a:srgbClr val="F7FAFC"/>
      </a:lt1>
      <a:dk2>
        <a:srgbClr val="1F497D"/>
      </a:dk2>
      <a:lt2>
        <a:srgbClr val="E8F0F7"/>
      </a:lt2>
      <a:accent1>
        <a:srgbClr val="123B5D"/>
      </a:accent1>
      <a:accent2>
        <a:srgbClr val="C83E4D"/>
      </a:accent2>
      <a:accent3>
        <a:srgbClr val="2F7E9E"/>
      </a:accent3>
      <a:accent4>
        <a:srgbClr val="123B5D"/>
      </a:accent4>
      <a:accent5>
        <a:srgbClr val="4BACC6"/>
      </a:accent5>
      <a:accent6>
        <a:srgbClr val="F79646"/>
      </a:accent6>
      <a:hlink>
        <a:srgbClr val="C83E4D"/>
      </a:hlink>
      <a:folHlink>
        <a:srgbClr val="2F7E9E"/>
      </a:folHlink>
    </a:clrScheme>
    <a:fontScheme name="答辩PP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答辩P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答辩PPT">
  <a:themeElements>
    <a:clrScheme name="答辩PPT">
      <a:dk1>
        <a:srgbClr val="1F2933"/>
      </a:dk1>
      <a:lt1>
        <a:srgbClr val="F7FAFC"/>
      </a:lt1>
      <a:dk2>
        <a:srgbClr val="1F497D"/>
      </a:dk2>
      <a:lt2>
        <a:srgbClr val="E8F0F7"/>
      </a:lt2>
      <a:accent1>
        <a:srgbClr val="123B5D"/>
      </a:accent1>
      <a:accent2>
        <a:srgbClr val="C83E4D"/>
      </a:accent2>
      <a:accent3>
        <a:srgbClr val="2F7E9E"/>
      </a:accent3>
      <a:accent4>
        <a:srgbClr val="123B5D"/>
      </a:accent4>
      <a:accent5>
        <a:srgbClr val="4BACC6"/>
      </a:accent5>
      <a:accent6>
        <a:srgbClr val="F79646"/>
      </a:accent6>
      <a:hlink>
        <a:srgbClr val="C83E4D"/>
      </a:hlink>
      <a:folHlink>
        <a:srgbClr val="2F7E9E"/>
      </a:folHlink>
    </a:clrScheme>
    <a:fontScheme name="答辩PP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答辩P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2756</Words>
  <Application>Microsoft Macintosh PowerPoint</Application>
  <PresentationFormat>Widescreen</PresentationFormat>
  <Paragraphs>248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Consolas</vt:lpstr>
      <vt:lpstr>答辩PPT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鑫 曹</cp:lastModifiedBy>
  <cp:revision>2</cp:revision>
  <dcterms:created xsi:type="dcterms:W3CDTF">2026-07-17T18:44:34Z</dcterms:created>
  <dcterms:modified xsi:type="dcterms:W3CDTF">2026-07-17T20:58:42Z</dcterms:modified>
  <cp:category/>
  <cp:contentStatus/>
  <dc:language/>
</cp:coreProperties>
</file>